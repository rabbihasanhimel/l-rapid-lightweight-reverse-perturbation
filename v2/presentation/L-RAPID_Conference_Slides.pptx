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Attacker Detection Accuracy (%)</c:v>
                </c:pt>
              </c:strCache>
            </c:strRef>
          </c:tx>
          <c:spPr>
            <a:ln w="34925" cap="flat">
              <a:solidFill>
                <a:srgbClr val="3E8E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E8E7E"/>
              </a:solidFill>
              <a:ln w="9525" cap="flat">
                <a:solidFill>
                  <a:srgbClr val="3E8E7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K=1</c:v>
                </c:pt>
                <c:pt idx="1">
                  <c:v>K=2</c:v>
                </c:pt>
                <c:pt idx="2">
                  <c:v>K=3</c:v>
                </c:pt>
                <c:pt idx="3">
                  <c:v>K=4</c:v>
                </c:pt>
                <c:pt idx="4">
                  <c:v>K=6</c:v>
                </c:pt>
                <c:pt idx="5">
                  <c:v>K=8</c:v>
                </c:pt>
                <c:pt idx="6">
                  <c:v>K=10</c:v>
                </c:pt>
                <c:pt idx="7">
                  <c:v>K=12</c:v>
                </c:pt>
                <c:pt idx="8">
                  <c:v>K=14</c:v>
                </c:pt>
                <c:pt idx="9">
                  <c:v>K=16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98.1</c:v>
                </c:pt>
                <c:pt idx="1">
                  <c:v>98</c:v>
                </c:pt>
                <c:pt idx="2">
                  <c:v>98</c:v>
                </c:pt>
                <c:pt idx="3">
                  <c:v>98</c:v>
                </c:pt>
                <c:pt idx="4">
                  <c:v>98</c:v>
                </c:pt>
                <c:pt idx="5">
                  <c:v>97.8</c:v>
                </c:pt>
                <c:pt idx="6">
                  <c:v>96.4</c:v>
                </c:pt>
                <c:pt idx="7">
                  <c:v>75.900000000000006</c:v>
                </c:pt>
                <c:pt idx="8">
                  <c:v>52.6</c:v>
                </c:pt>
                <c:pt idx="9">
                  <c:v>49.6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D4-4B6E-9826-9C0CDA79CA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Random-Guessing Threshold (50%)</c:v>
                </c:pt>
              </c:strCache>
            </c:strRef>
          </c:tx>
          <c:spPr>
            <a:ln w="34925" cap="flat">
              <a:solidFill>
                <a:srgbClr val="B9C2C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C2CA"/>
              </a:solidFill>
              <a:ln w="9525" cap="flat">
                <a:solidFill>
                  <a:srgbClr val="B9C2C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K=1</c:v>
                </c:pt>
                <c:pt idx="1">
                  <c:v>K=2</c:v>
                </c:pt>
                <c:pt idx="2">
                  <c:v>K=3</c:v>
                </c:pt>
                <c:pt idx="3">
                  <c:v>K=4</c:v>
                </c:pt>
                <c:pt idx="4">
                  <c:v>K=6</c:v>
                </c:pt>
                <c:pt idx="5">
                  <c:v>K=8</c:v>
                </c:pt>
                <c:pt idx="6">
                  <c:v>K=10</c:v>
                </c:pt>
                <c:pt idx="7">
                  <c:v>K=12</c:v>
                </c:pt>
                <c:pt idx="8">
                  <c:v>K=14</c:v>
                </c:pt>
                <c:pt idx="9">
                  <c:v>K=16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D4-4B6E-9826-9C0CDA79C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7B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6707B"/>
                    </a:solidFill>
                    <a:latin typeface="Arial"/>
                  </a:rPr>
                  <a:t>XOR Keystream Bit-Depth K (bits perturbed per register)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670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EEF2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7B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6707B"/>
                    </a:solidFill>
                    <a:latin typeface="Arial"/>
                  </a:rPr>
                  <a:t>Classification 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670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6707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85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INTERNATIONAL APPLIED CYBERSECURITY CONFERENCE &amp; SUMMER SCHOOL  — 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0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L-RAPID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0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Reversible and Privacy-Preserving IIoT Data-Perturbation System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24612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word-parallel obfuscation with exact numerical utility for legacy Modbus telemetry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3886200"/>
            <a:ext cx="523951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 Hasan Himel, Tayyaba Basri, Hamza Haroon, Aditya Mitra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43984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 Prof. Dr. E. Fatih Yetkin, Asst. Prof. Dr. Tuğçe Ballı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92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Management Information Systems  |  CyberMACS Programme  |  Kadir Has University, Istanbul, Türkiye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Cleartext Telemetry in Legacy Critical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420624" cy="420624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933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1979 Protocol, Still Everywhere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was designed for isolated serial links and still powers over 60% of today’s industrial infrastructure — water treatment, energy grids, factories.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82512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6832" y="2011680"/>
            <a:ext cx="420624" cy="420624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5683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78624" y="19933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Built-In Protection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702552" y="25146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telemetry (FC1–FC4) is transmitted entirely in cleartext, with no authentication and no encryption.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89120"/>
            <a:ext cx="420624" cy="420624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7083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Not an Option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92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legacy PLCs costs millions of dollars and requires downtime that plant operators cannot absorb.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82512" y="4114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4389120"/>
            <a:ext cx="420624" cy="420624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78624" y="437083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Widening Attack Surface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4892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analytics now pull this cleartext stream over cellular and Wi-Fi links — open to wiretapping, adversarial-ML profiling, and sabotage reconnaissance.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Conventional Defenses Fail on Legacy IIoT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Cryptography (AES / TLS)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8/16-bit PLCs (16–48 MHz) have no AES-NI acceleration.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AES-128 costs roughly 10.5 µs per packet — far above sub-millisecond Modbus scan-cycle budgets.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and buffering overhead exhausts memory on constrained devices.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unviable for real-time legacy control loops.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82512" y="16002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56832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Noise-Based Differential Privacy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2860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/ Laplacian perturbation permanently distorts the original sensor value.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anomaly-detection and safety-monitoring systems then act on corrupted inputs.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1–2% permanent error on pressure or chlorine level can trigger a false safety shutdown.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unacceptable for precision SCADA telemetry.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2E52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864608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Research Question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achieve high-throughput, in-flight telemetry obfuscation on constrained legacy hardware while guaranteeing 100% exact numerical restoration for authorized cloud systems?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L-RAPID: Three-Tier Reversible Data Perturbation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Legacy Edge PLC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28346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41448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Modbus registers FC1–FC4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four 16-bit values into one 64-bit word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packed XOR: C = P ⊕ 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 0.15 µs per packet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Untrusted Wiretap Link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2313432"/>
            <a:ext cx="28346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441448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internet, 4G, or Wi-Fi gateway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sees only high-entropy values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Static-adversary accuracy: 48.8%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Adaptive-adversary accuracy: 49.9%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Authorized Cloud Ingestion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75320" y="2313432"/>
            <a:ext cx="283464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2441448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synchronization state with the PLC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Re-applies XOR: P = C ⊕ 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exact bit-for-bit restoration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98.47% baseline detection accuracy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EF2F6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754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Self-Inverting Principle:   </a:t>
            </a:r>
            <a:r>
              <a:rPr lang="en-US" sz="13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 = Plaintext ⊕ Key  ⇒  Restored = (Plaintext ⊕ Key) ⊕ Key = Plaintext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Packed 64-Bit Word-Parallel XOR Masking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contiguous 16-bit Modbus registers are packed into a single 64-bit word and masked with one packed keystream, instead of masking each register separately.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989320" cy="1691640"/>
          </a:xfrm>
          <a:prstGeom prst="roundRect">
            <a:avLst>
              <a:gd name="adj" fmla="val 3243"/>
            </a:avLst>
          </a:prstGeom>
          <a:solidFill>
            <a:srgbClr val="1E2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606040"/>
            <a:ext cx="5532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uint64_t packed = ((uint64_t)FC1 &lt;&lt; 48) |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((uint64_t)FC2 &lt;&lt; 32) |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((uint64_t)FC3 &lt;&lt; 16) |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((uint64_t)FC4);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E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packed_perturbed = packed ^ keystream_64;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97680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 claim: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speedup is architectural word-level parallelism, not cryptographic diffusion — plain XOR does not mix bits across register boundaries; each register stays independently masked by its own 16-bit block.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600200"/>
            <a:ext cx="4828032" cy="1051560"/>
          </a:xfrm>
          <a:prstGeom prst="roundRect">
            <a:avLst>
              <a:gd name="adj" fmla="val 6957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709928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 µs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2199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Per-packet latency, packed 64-bit XOR — 10× faster than masking each 16-bit register separately (1.48 µs)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2834640"/>
            <a:ext cx="4828032" cy="1051560"/>
          </a:xfrm>
          <a:prstGeom prst="roundRect">
            <a:avLst>
              <a:gd name="adj" fmla="val 6957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944368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2⁶⁴ states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45643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masking domain (≈ 1.84 × 10¹⁹ combinations) per 64-bit packet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4069080"/>
            <a:ext cx="4828032" cy="1051560"/>
          </a:xfrm>
          <a:prstGeom prst="roundRect">
            <a:avLst>
              <a:gd name="adj" fmla="val 6957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4178808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→ Production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69087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PRNG seed (reproducibility) replaced by ChaCha20 / ASCON-128a with a per-packet nonce in deployment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BASELINE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ToN_IoT Modbus Benchmark and Baseline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Modbus Telemetry Subset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84248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31,106 industrial telemetry samples: 15,000 normal (48%) and 16,106 attack (52%).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attack categories: Injection, Backdoor, Scanning, XSS, Password.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Modbus function-code registers FC1–FC4, represented as 16-bit unsigned integers (0–65,535).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ratios (0.56–0.58) show the raw signal is information-rich and hard to model externally.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Detection Model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2452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classifier, 80/20 stratified split (24,884 train / 6,222 test).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 false positives and 79 false negatives out of 6,222 test samples.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1600200"/>
            <a:ext cx="4416552" cy="2148840"/>
          </a:xfrm>
          <a:prstGeom prst="roundRect">
            <a:avLst>
              <a:gd name="adj" fmla="val 4255"/>
            </a:avLst>
          </a:prstGeom>
          <a:solidFill>
            <a:srgbClr val="2E52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187452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98.47%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65176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detection accuracy on raw telemetry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20040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8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0.9847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4023360"/>
            <a:ext cx="4416552" cy="1371600"/>
          </a:xfrm>
          <a:prstGeom prst="roundRect">
            <a:avLst>
              <a:gd name="adj" fmla="val 5333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4023360"/>
            <a:ext cx="3959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Modbus telemetry has a highly exploitable discriminative structure — directly motivating in-transit obfuscation before transmission.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Threat Modeling: Static vs. Adaptive Adversary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Adversary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05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 model pre-trained on clean historical telemetry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perturbed traffic directly, without retraining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48006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21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48.8%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813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(from 98.47%)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82512" y="16002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56832" y="1801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Adversary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656832" y="21305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retraining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2514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intercepted perturbed traffic and ground-truth labels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a fresh Random Forest directly on perturbed features (80/20 split)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56832" y="3611880"/>
            <a:ext cx="480060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56832" y="3721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49.9%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813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— a coin toss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2E52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75488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on perturbed data still fails to beat 50% — the suppression is not a covariate-shift artifact, it eliminates the discriminative correlation between features and attack labels.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Validation: Confusion-Matrix Triad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43032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pic>
        <p:nvPicPr>
          <p:cNvPr id="6" name="Image 0" descr="/home/claude/work/asse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10085832" cy="3429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5257800"/>
            <a:ext cx="10085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(A) Clean baseline — 98.47% utility.  (B) Adaptive adversary — collapses to the ~50% random-guessing floor.  (C) Cloud restoration — recovers 100% exact baseline detection fidelity.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Latency vs. Standard Cryptography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32461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 Scheme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Adv.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Per-Packet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2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 vs.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AES-128-CBC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2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 (σ = 0.5)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 µs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5.8× faster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Noise (b = 0.5)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 µs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5.0× faster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16-bit (register-level)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µs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7.1× faster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E5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64-bit — packed word (ours)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5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5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5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µs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52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69.8× faster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ChaCha20 (CSPRNG stream cipher)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 µs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 faster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AES-128-CBC (standard block mode)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10.54 µs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 (reference)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reversible method achieved 100% exact-match restoration across all 31,106 samples — zero numerical distortion. </a:t>
            </a:r>
            <a:r>
              <a:rPr lang="en-US" sz="12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XOR-64 is roughly 70× faster than AES-128-CBC and 59× faster than AES-128-CTR.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BIT-DEPTH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K-Bit Sweep: Tuning Perturbation Intensity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55448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600200"/>
            <a:ext cx="3044952" cy="1325880"/>
          </a:xfrm>
          <a:prstGeom prst="roundRect">
            <a:avLst>
              <a:gd name="adj" fmla="val 5517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87968" y="1709928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1–8 bits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bits stay unperturbed — detection accuracy stays near 98%.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0" y="3108960"/>
            <a:ext cx="3044952" cy="1325880"/>
          </a:xfrm>
          <a:prstGeom prst="roundRect">
            <a:avLst>
              <a:gd name="adj" fmla="val 5517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87968" y="3218688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10–12 bits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begins collapsing sharply — down to 75.9% at K=12.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0" y="4617720"/>
            <a:ext cx="3044952" cy="1325880"/>
          </a:xfrm>
          <a:prstGeom prst="roundRect">
            <a:avLst>
              <a:gd name="adj" fmla="val 5517"/>
            </a:avLst>
          </a:prstGeom>
          <a:solidFill>
            <a:srgbClr val="2E526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887968" y="4727448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14–16 bits
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privacy collapse: 49.6% at K=16 — all 16 bits must be scrambled for adaptive-AI immunity.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Deployment: Where This Applies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7744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Treatment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971800"/>
            <a:ext cx="2990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pump and chlorination stations transmit over 4G to regional SCADA.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Noise-based DP is unsafe here — permanent distortion of chlorine or tank levels can trigger false shutdowns.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L-RAPID scrambles telemetry in 0.15 µs and the cloud restores exact values with 100% utility.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856232"/>
            <a:ext cx="365760" cy="365760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37744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Power Substations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971800"/>
            <a:ext cx="2990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and solar sites stream grid frequency and voltage every 10–50 ms.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AES causes buffer overflow and desync under such strict latency budgets.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0.15 µs, L-RAPID adds effectively zero lag while blocking reconnaissance.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160020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1856232"/>
            <a:ext cx="365760" cy="365760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856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237744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Predictive AI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2971800"/>
            <a:ext cx="29900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stream vibration and heat telemetry to public cloud AI platforms.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Wiretapped raw streams let competitors infer recipes and production volumes.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scrambles data pre-ingestion; only authorized engineers reverse it for digital twins.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&amp; FUTURE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Kerckhoffs's Principle and the Production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0136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Relies on Key Secrecy, Not Obscurity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585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the algorithm does not weaken it — as long as the key K stays secret.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C = P ⊕ K reveals zero bits about the secret keystream — all plaintexts remain equally likely.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64-bit packed word spans ≈ 1.84 × 10¹⁹ states; brute-forcing one frame at 1B keys/sec would take over 580 years.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keystream derivation is per-packet — knowing packet #1 gives no help decrypting packet #2, defeating known-plaintext attacks.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82512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56832" y="18013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258568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keystream: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prototype's static seed with ChaCha20 or ASCON-128a paired with a per-packet nonce, for forward secrecy.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Hardware-in-the-loop: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physical Siemens S7-1200 and Schneider Electric Modbus PLCs; profile power and CPU jitter.</a:t>
            </a:r>
            <a:endParaRPr lang="en-US" sz="120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journal paper: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this conference abstract with formal mutual-information leakage bounds.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 µs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Sub-Microsecond Speed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971800"/>
            <a:ext cx="3044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0896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~70× faster than AES-CBC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faster than 16-bit XOR via packed word parallelism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lag on legacy PLCs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9202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49.9%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60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Defense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2971800"/>
            <a:ext cx="3044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10896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detection: 98.47%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attacker held at coin-toss accuracy, even after retraining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exploitable discriminative structure remains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7F9FB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8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560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Utility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58200" y="2971800"/>
            <a:ext cx="304495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8200" y="310896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restoration, 0 reconstruction error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permanent signal distortion, unlike differential privacy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fidelity for cloud analytics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0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3931920"/>
            <a:ext cx="3227832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CyberMACS 2026  |  L-RAPID: Lightweight Reversible IIoT Telemetry Perturbation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1735</Words>
  <Application>Microsoft Office PowerPoint</Application>
  <PresentationFormat>Widescreen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Onichan Naruto</cp:lastModifiedBy>
  <cp:revision>2</cp:revision>
  <dcterms:created xsi:type="dcterms:W3CDTF">2026-09-15T20:14:09Z</dcterms:created>
  <dcterms:modified xsi:type="dcterms:W3CDTF">2026-09-15T20:33:51Z</dcterms:modified>
</cp:coreProperties>
</file>