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morning/afternoon distinguished committee members, professors, and fellow researchers. My name is Rabbi Hasan Himel, representing our research team from the Erasmus Mundus Joint Master's Programme in Applied Cybersecurity (CyberMACS) at Kadir Has University.</a:t>
            </a:r>
          </a:p>
          <a:p/>
          <a:p>
            <a:r>
              <a:t>Today, I am thrilled to present our work titled: 'L-RAPID: Lightweight Reversible And Privacy-Preserving IIoT Data-Perturbation System.' This research tackles a critical dilemma in industrial cybersecurity: how to protect legacy industrial controllers from eavesdropping and adversarial machine learning, without sacrificing sub-millisecond real-time performance or data utility for the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understand why this problem is urgent, we must look at the reality of modern industry. The Modbus protocol was engineered in 1979—decades before cybersecurity was a concern. Today, it powers over 60% of critical infrastructure, including municipal water distribution, power grid substations, and automotive plants.</a:t>
            </a:r>
          </a:p>
          <a:p/>
          <a:p>
            <a:r>
              <a:t>Modbus has zero built-in encryption. As factory operators connect legacy PLCs to cloud platforms, adversaries can wiretap network streams and train machine learning models to infer operational states, steal manufacturing intellectual property, or prepare for targeted physical sabotage.</a:t>
            </a:r>
          </a:p>
          <a:p/>
          <a:p>
            <a:r>
              <a:t>However, factory owners cannot just replace every multi-thousand dollar PLC. We need a solution that works on legacy hardware today without disrupting operational safety.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When cybersecurity engineers look at this problem, they usually suggest two standard tools: First: 'Just encrypt everything with AES or TLS.' But on a 15-year-old PLC running a 16-bit microcontroller, there is no AES-NI hardware accelerator. Software AES introduces huge latency spikes that break real-time Modbus scan cycles and drop packets.</a:t>
            </a:r>
          </a:p>
          <a:p/>
          <a:p>
            <a:r>
              <a:t>Second: 'Why not use Differential Privacy and add Gaussian or Laplacian noise?' Because in industrial control systems, noise is irreversible! If you permanently distort boiler pressure or chemical concentrations, your cloud safety monitoring system triggers false alarms or misses real disasters.</a:t>
            </a:r>
          </a:p>
          <a:p/>
          <a:p>
            <a:r>
              <a:t>This framed our core research question: Can we design a system that scrambles data in-flight with near-zero latency, while allowing authorized cloud receivers to reverse it with 100% exact numerical restoration?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This brings us to our solution: L-RAPID (Lightweight Reversible And Privacy-Preserving IIoT Data-Perturbation).</a:t>
            </a:r>
          </a:p>
          <a:p/>
          <a:p>
            <a:r>
              <a:t>Here is how the 3-tier architecture operates:</a:t>
            </a:r>
          </a:p>
          <a:p>
            <a:r>
              <a:t>1. At the Edge PLC: We take the 4 Modbus telemetry registers, pack them into a single 64-bit integer, and bitwise XOR them with a pseudorandom keystream in just 0.15 microseconds.</a:t>
            </a:r>
          </a:p>
          <a:p>
            <a:r>
              <a:t>2. On the Wire: Any wiretapping adversary only observes high-entropy scrambled numbers. Even if they intercept the traffic and retrain an intrusion detection model on it, their accuracy drops to 49.9%—the exact equivalent of flipping a coin.</a:t>
            </a:r>
          </a:p>
          <a:p>
            <a:r>
              <a:t>3. At the Authorized Cloud: Because both sides share the secret synchronization seed, the cloud regenerates the exact same keystream and applies the self-inverting XOR operation again. The data is restored with 100% exact numerical match, preserving full utility for analytics.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look at the core technical innovation: Packed 64-Bit Word-Parallel processing.</a:t>
            </a:r>
          </a:p>
          <a:p/>
          <a:p>
            <a:r>
              <a:t>In a standard Modbus packet, multiple 16-bit registers are transmitted together. If you perturb registers one by one, the CPU has to execute 4 separate load, XOR, and store instructions. That takes 1.48 microseconds.</a:t>
            </a:r>
          </a:p>
          <a:p/>
          <a:p>
            <a:r>
              <a:t>Instead, we bit-pack all 4 registers into a single 64-bit integer word using simple bit-shifts. Now, a modern 64-bit processor executes the entire perturbation across all 4 registers in a single CPU instruction! That slashed our per-packet latency by 10×—down to 0.15 microseconds.</a:t>
            </a:r>
          </a:p>
          <a:p/>
          <a:p>
            <a:r>
              <a:t>I want to highlight an honest scientific distinction: this speedup comes from architectural word parallelism, not cryptographic diffusion, because plain bitwise XOR does not mix bits across register boundaries. Being precise about this distinction is what makes our research solid.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rigorously test our pipeline, we evaluated it against the Modbus subset of the ToN_IoT dataset, comprising 31,106 samples covering 5 real attack categories like Injection, Backdoor, and Scanning.</a:t>
            </a:r>
          </a:p>
          <a:p/>
          <a:p>
            <a:r>
              <a:t>The dataset records four 16-bit Modbus registers: FC1 to FC4. First, we trained a baseline Random Forest classifier on the raw, clean data using an 80/20 stratified split. The baseline achieved 98.47% accuracy and an F1-score of 0.9847, making only 95 errors out of over 6,200 test samples.</a:t>
            </a:r>
          </a:p>
          <a:p/>
          <a:p>
            <a:r>
              <a:t>This proved an important prerequisite: raw industrial Modbus telemetry has a very strong, exploitable pattern. Without perturbation, any attacker tapping the wire can easily monitor the plant's operational state.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examine our security evaluation. This was the most important scientific contribution of our paper.</a:t>
            </a:r>
          </a:p>
          <a:p/>
          <a:p>
            <a:r>
              <a:t>In peer review, Reviewer 2 asked a tough question: 'If you train a classifier on clean data and test it on scrambled data, of course accuracy drops. Isn't that just a distribution shift?'</a:t>
            </a:r>
          </a:p>
          <a:p/>
          <a:p>
            <a:r>
              <a:t>To answer this definitively, we evaluated two separate adversaries:</a:t>
            </a:r>
          </a:p>
          <a:p>
            <a:r>
              <a:t>First, the Static Adversary: an attacker using a pre-trained model on clean data. Accuracy dropped to 48.8%.</a:t>
            </a:r>
          </a:p>
          <a:p>
            <a:r>
              <a:t>Second, the Adaptive Adversary: we gave the attacker an 80% training set of intercepted perturbed traffic WITH ground-truth labels, and let them train a fresh Random Forest model directly on the perturbed data.</a:t>
            </a:r>
          </a:p>
          <a:p/>
          <a:p>
            <a:r>
              <a:t>Look at the result: even with full retraining, the adaptive adversary achieved only 49.9% accuracy—the exact equivalent of flipping a coin! This conclusively proves that our perturbation doesn't just confuse a static model; it obliterates the mutual information between features and class labels.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Slide 8 displays our empirical Triad Confusion Matrix evaluation across all 6,222 test samples.</a:t>
            </a:r>
          </a:p>
          <a:p/>
          <a:p>
            <a:r>
              <a:t>Look at the progression from left to right:</a:t>
            </a:r>
          </a:p>
          <a:p>
            <a:r>
              <a:t>On the left, the clean baseline separates normal traffic from attacks almost flawlessly (98.47% accuracy).</a:t>
            </a:r>
          </a:p>
          <a:p>
            <a:r>
              <a:t>In the middle, under L-RAPID perturbation, the confusion matrix collapses into an even distribution across all quadrants—true positives and false positives are equal, proving that the adversary is guessing at random.</a:t>
            </a:r>
          </a:p>
          <a:p>
            <a:r>
              <a:t>On the right, upon authorized cloud restoration, the confusion matrix is restored bit-for-bit to the baseline state.</a:t>
            </a:r>
          </a:p>
          <a:p/>
          <a:p>
            <a:r>
              <a:t>This visual triad provides empirical proof that data utility is completely preserved for the defender while denied to the eavesdropper.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complete computational latency benchmark. We benchmarked our pipeline against standard AES and ChaCha20 over 10 repetitions across all 31,106 packets.</a:t>
            </a:r>
          </a:p>
          <a:p/>
          <a:p>
            <a:r>
              <a:t>Look at row 5: our packed 64-bit XOR achieved a per-packet latency of just 0.15 microseconds. That is 69.8 times faster—roughly 70 times lower latency—than standard AES-CBC at 10.54 microseconds.</a:t>
            </a:r>
          </a:p>
          <a:p/>
          <a:p>
            <a:r>
              <a:t>Why does this matter for the guests in the audience? In a Modbus RTU network with sub-millisecond scan cycles, an algorithm taking 10 microseconds per packet consumes significant CPU cycles on a 16 MHz microcontroller. At 0.15 microseconds, L-RAPID introduces practically zero delay, running comfortably on legacy hardware.</a:t>
            </a:r>
          </a:p>
          <a:p/>
          <a:p>
            <a:r>
              <a:t>Notice also that every method achieved 100% exact numerical restoration. No distortion, zero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also asked a practical engineering question: Do we really need to scramble all 16 bits of each register? What if a resource-constrained sensor only scrambles the lowest few bits?</a:t>
            </a:r>
          </a:p>
          <a:p/>
          <a:p>
            <a:r>
              <a:t>To answer this, we conducted a parametric experiment, varying the bit-depth K across selected values from 1 to 16. Look at the plot on the right:</a:t>
            </a:r>
          </a:p>
          <a:p>
            <a:r>
              <a:t>When K is between 1 and 8 bits, the attacker's accuracy barely moves—it stays around 98%. Why? Because the top 8 bits of the register still carry enough operational structure for the AI to classify attacks.</a:t>
            </a:r>
          </a:p>
          <a:p/>
          <a:p>
            <a:r>
              <a:t>However, once we cross K = 12 bits, the accuracy drops sharply to 75%, and by K = 14 and 16 bits, it completely collapses to 49.57%—the random guessing ceiling.</a:t>
            </a:r>
          </a:p>
          <a:p/>
          <a:p>
            <a:r>
              <a:t>This establishes a crucial rule for industrial practitioners: to withstand an adaptive AI attacker, you must scramble all 16 bits.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ground this in reality: where can an industrial plant deploy this tomorrow?</a:t>
            </a:r>
          </a:p>
          <a:p/>
          <a:p>
            <a:r>
              <a:t>Example 1: In municipal water treatment. Remote water pump stations transmit chemical dosing data over cellular. If attackers intercept it, they learn vulnerabilities. Permanent noise cannot be used because chlorine levels must be exact. L-RAPID scrambles data on low-power RTUs in 0.15 microseconds, and the central plant reverses it with 100% accuracy.</a:t>
            </a:r>
          </a:p>
          <a:p/>
          <a:p>
            <a:r>
              <a:t>Example 2: In renewable power grids. Wind turbine substations have strict sub-millisecond control loops. Software AES causes packet buffers to fill up and drop packets, risking grid desynchronization. L-RAPID runs 70 times faster, introducing zero lag.</a:t>
            </a:r>
          </a:p>
          <a:p/>
          <a:p>
            <a:r>
              <a:t>Example 3: In outsourced cloud predictive maintenance. Factories streaming machinery telemetry to AWS or Azure can protect their proprietary manufacturing recipes and production volume from corporate espionage.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An attentive reviewer might ask: 'If you publish your paper explaining that you pack 4 registers and use XOR, can't an attacker just reverse-engineer it?'</a:t>
            </a:r>
          </a:p>
          <a:p/>
          <a:p>
            <a:r>
              <a:t>The answer lies in Kerckhoffs's Principle, the fundamental law of cybersecurity: a system must be secure even if everything about the algorithm is public, as long as the key is secret.</a:t>
            </a:r>
          </a:p>
          <a:p>
            <a:r>
              <a:t>Knowing that we use XOR gives the attacker zero information about the secret keystream K. Furthermore, our 64-bit packed word expands the search space to 18.4 quintillion states, making brute force impossible.</a:t>
            </a:r>
          </a:p>
          <a:p/>
          <a:p>
            <a:r>
              <a:t>In our prototype, we used seed 999 for reproducibility. In our production roadmap, we replace this seed with ChaCha20 or ASCON-128a paired with a per-packet nonce, ensuring that every single Modbus packet gets a unique, unrepeatable key. We are currently preparing the full 10-page journal paper with hardware PLC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conclude, L-RAPID delivers three fundamental breakthroughs for legacy IIoT security:</a:t>
            </a:r>
          </a:p>
          <a:p>
            <a:r>
              <a:t>1. Sub-microsecond speed: executing in 0.15 microseconds per packet, roughly 70 times faster than AES-CBC.</a:t>
            </a:r>
          </a:p>
          <a:p>
            <a:r>
              <a:t>2. Resilient AI defense: suppressing both static and adaptive adversaries to ~50% random guessing.</a:t>
            </a:r>
          </a:p>
          <a:p>
            <a:r>
              <a:t>3. 100% exact numerical utility: restoring full telemetry fidelity for authorized cloud controllers without the destructive distortion of Differential Privacy.</a:t>
            </a:r>
          </a:p>
          <a:p/>
          <a:p>
            <a:r>
              <a:t>This work was supported by the European Union under Erasmus Mundus CyberMACS and by TÜBİTAK-1001.</a:t>
            </a:r>
          </a:p>
          <a:p/>
          <a:p>
            <a:r>
              <a:t>Thank you very much for your time and attention. I would now be delighted to answer any questions from the committee and the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731520"/>
            <a:ext cx="10728655" cy="36576"/>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68680"/>
            <a:ext cx="10728655" cy="411480"/>
          </a:xfrm>
          <a:prstGeom prst="rect">
            <a:avLst/>
          </a:prstGeom>
          <a:noFill/>
        </p:spPr>
        <p:txBody>
          <a:bodyPr wrap="none" lIns="0" tIns="0">
            <a:spAutoFit/>
          </a:bodyPr>
          <a:lstStyle/>
          <a:p>
            <a:pPr>
              <a:defRPr sz="1100" b="1">
                <a:solidFill>
                  <a:srgbClr val="0284C7"/>
                </a:solidFill>
                <a:latin typeface="Arial"/>
              </a:defRPr>
            </a:pPr>
            <a:r>
              <a:t>CYBERMACS INTERNATIONAL APPLIED CYBERSECURITY CONFERENCE &amp; SUMMER SCHOOL — 2026</a:t>
            </a:r>
          </a:p>
        </p:txBody>
      </p:sp>
      <p:sp>
        <p:nvSpPr>
          <p:cNvPr id="4" name="TextBox 3"/>
          <p:cNvSpPr txBox="1"/>
          <p:nvPr/>
        </p:nvSpPr>
        <p:spPr>
          <a:xfrm>
            <a:off x="731520" y="1371600"/>
            <a:ext cx="10728655" cy="2011680"/>
          </a:xfrm>
          <a:prstGeom prst="rect">
            <a:avLst/>
          </a:prstGeom>
          <a:noFill/>
        </p:spPr>
        <p:txBody>
          <a:bodyPr wrap="square" lIns="0" tIns="0">
            <a:spAutoFit/>
          </a:bodyPr>
          <a:lstStyle/>
          <a:p>
            <a:pPr>
              <a:defRPr sz="2800" b="1">
                <a:solidFill>
                  <a:srgbClr val="1E3A8A"/>
                </a:solidFill>
                <a:latin typeface="Arial"/>
              </a:defRPr>
            </a:pPr>
            <a:r>
              <a:t>L-RAPID: Lightweight Reversible And</a:t>
            </a:r>
            <a:br/>
            <a:r>
              <a:t>Privacy-Preserving IIoT Data-Perturbation System</a:t>
            </a:r>
          </a:p>
          <a:p>
            <a:pPr>
              <a:spcBef>
                <a:spcPts val="600"/>
              </a:spcBef>
              <a:defRPr sz="1500">
                <a:solidFill>
                  <a:srgbClr val="475569"/>
                </a:solidFill>
                <a:latin typeface="Calibri"/>
              </a:defRPr>
            </a:pPr>
            <a:r>
              <a:t>High-Speed Packed Word-Parallel Obfuscation with Exact Numerical Utility for Legacy Modbus Telemetry</a:t>
            </a:r>
          </a:p>
        </p:txBody>
      </p:sp>
      <p:sp>
        <p:nvSpPr>
          <p:cNvPr id="5" name="Rectangle 4"/>
          <p:cNvSpPr/>
          <p:nvPr/>
        </p:nvSpPr>
        <p:spPr>
          <a:xfrm>
            <a:off x="731520" y="3566160"/>
            <a:ext cx="10728655" cy="2194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400" b="1">
                <a:solidFill>
                  <a:srgbClr val="0F294A"/>
                </a:solidFill>
                <a:latin typeface="Arial"/>
              </a:defRPr>
            </a:pPr>
            <a:r>
              <a:t>Authors:  Rabbi Hasan Himel, Tayyaba Basri, Hamza Haroon, Aditya Mitra</a:t>
            </a:r>
          </a:p>
          <a:p>
            <a:pPr>
              <a:spcBef>
                <a:spcPts val="400"/>
              </a:spcBef>
              <a:defRPr sz="1300" b="1">
                <a:solidFill>
                  <a:srgbClr val="0284C7"/>
                </a:solidFill>
                <a:latin typeface="Calibri"/>
              </a:defRPr>
            </a:pPr>
            <a:r>
              <a:t>Supervisors:  Assoc. Prof. Dr. E. Fatih Yetkin, Asst. Prof. Dr. Tuğçe Ballı</a:t>
            </a:r>
          </a:p>
          <a:p>
            <a:pPr>
              <a:spcBef>
                <a:spcPts val="400"/>
              </a:spcBef>
              <a:defRPr sz="1200">
                <a:solidFill>
                  <a:srgbClr val="1E293B"/>
                </a:solidFill>
                <a:latin typeface="Calibri"/>
              </a:defRPr>
            </a:pPr>
            <a:r>
              <a:t>Department of Management Information Systems  |  CyberMACS Programme  |  Kadir Has University, Istanbul, Türkiye</a:t>
            </a:r>
          </a:p>
          <a:p>
            <a:pPr>
              <a:spcBef>
                <a:spcPts val="600"/>
              </a:spcBef>
              <a:defRPr sz="1100" i="1">
                <a:solidFill>
                  <a:srgbClr val="64748B"/>
                </a:solidFill>
                <a:latin typeface="Calibri"/>
              </a:defRPr>
            </a:pPr>
            <a:r>
              <a:t>Supported by the European Union (Erasmus+ CyberMACS, Project #101082683) and TÜBİTAK-1001 (Project #125E288)</a:t>
            </a:r>
          </a:p>
        </p:txBody>
      </p:sp>
      <p:sp>
        <p:nvSpPr>
          <p:cNvPr id="6" name="Rectangle 5"/>
          <p:cNvSpPr/>
          <p:nvPr/>
        </p:nvSpPr>
        <p:spPr>
          <a:xfrm>
            <a:off x="731520" y="3566160"/>
            <a:ext cx="54864" cy="2194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BACKGROUND &amp; MOTIVATION</a:t>
            </a:r>
          </a:p>
          <a:p>
            <a:pPr>
              <a:spcBef>
                <a:spcPts val="200"/>
              </a:spcBef>
              <a:defRPr sz="2200" b="1">
                <a:solidFill>
                  <a:srgbClr val="1E3A8A"/>
                </a:solidFill>
                <a:latin typeface="Arial"/>
              </a:defRPr>
            </a:pPr>
            <a:r>
              <a:t>Cleartext Telemetry in Legacy Critical Infrastructure</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2 of 13</a:t>
            </a:r>
          </a:p>
        </p:txBody>
      </p:sp>
      <p:sp>
        <p:nvSpPr>
          <p:cNvPr id="7" name="Rectangle 6"/>
          <p:cNvSpPr/>
          <p:nvPr/>
        </p:nvSpPr>
        <p:spPr>
          <a:xfrm>
            <a:off x="731520" y="1417320"/>
            <a:ext cx="3383280" cy="4709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1E3A8A"/>
                </a:solidFill>
                <a:latin typeface="Arial"/>
              </a:defRPr>
            </a:pPr>
            <a:r>
              <a:t>1. The 1979 Industrial Reality</a:t>
            </a:r>
          </a:p>
          <a:p>
            <a:pPr>
              <a:spcBef>
                <a:spcPts val="800"/>
              </a:spcBef>
            </a:pPr>
            <a:r>
              <a:rPr sz="1250" b="1" i="0">
                <a:solidFill>
                  <a:srgbClr val="1E293B"/>
                </a:solidFill>
                <a:latin typeface="Calibri"/>
              </a:rPr>
              <a:t>• Standard Protocol: </a:t>
            </a:r>
            <a:r>
              <a:rPr sz="1250" b="0" i="0">
                <a:solidFill>
                  <a:srgbClr val="475569"/>
                </a:solidFill>
                <a:latin typeface="Calibri"/>
              </a:rPr>
              <a:t>Modbus was designed in 1979 for isolated serial networks.</a:t>
            </a:r>
          </a:p>
          <a:p>
            <a:pPr>
              <a:spcBef>
                <a:spcPts val="800"/>
              </a:spcBef>
            </a:pPr>
            <a:r>
              <a:rPr sz="1250" b="1" i="0">
                <a:solidFill>
                  <a:srgbClr val="1E293B"/>
                </a:solidFill>
                <a:latin typeface="Calibri"/>
              </a:rPr>
              <a:t>• Widespread Usage: </a:t>
            </a:r>
            <a:r>
              <a:rPr sz="1250" b="0" i="0">
                <a:solidFill>
                  <a:srgbClr val="475569"/>
                </a:solidFill>
                <a:latin typeface="Calibri"/>
              </a:rPr>
              <a:t>Still powers &gt;60% of modern industrial infrastructure (water treatment, energy grids, factories).</a:t>
            </a:r>
          </a:p>
          <a:p>
            <a:pPr>
              <a:spcBef>
                <a:spcPts val="800"/>
              </a:spcBef>
            </a:pPr>
            <a:r>
              <a:rPr sz="1250" b="1" i="0">
                <a:solidFill>
                  <a:srgbClr val="1E293B"/>
                </a:solidFill>
                <a:latin typeface="Calibri"/>
              </a:rPr>
              <a:t>• Unencrypted Streams: </a:t>
            </a:r>
            <a:r>
              <a:rPr sz="1250" b="0" i="0">
                <a:solidFill>
                  <a:srgbClr val="475569"/>
                </a:solidFill>
                <a:latin typeface="Calibri"/>
              </a:rPr>
              <a:t>Transmits register telemetry (FC1–FC4) entirely in cleartext with zero authentication.</a:t>
            </a:r>
          </a:p>
          <a:p>
            <a:pPr>
              <a:spcBef>
                <a:spcPts val="800"/>
              </a:spcBef>
            </a:pPr>
            <a:r>
              <a:rPr sz="1250" b="1" i="0">
                <a:solidFill>
                  <a:srgbClr val="1E293B"/>
                </a:solidFill>
                <a:latin typeface="Calibri"/>
              </a:rPr>
              <a:t>• High Replacement Cost: </a:t>
            </a:r>
            <a:r>
              <a:rPr sz="1250" b="0" i="0">
                <a:solidFill>
                  <a:srgbClr val="475569"/>
                </a:solidFill>
                <a:latin typeface="Calibri"/>
              </a:rPr>
              <a:t>Replacing legacy PLCs costs millions and requires catastrophic downtime.</a:t>
            </a:r>
          </a:p>
        </p:txBody>
      </p:sp>
      <p:sp>
        <p:nvSpPr>
          <p:cNvPr id="8" name="Rectangle 7"/>
          <p:cNvSpPr/>
          <p:nvPr/>
        </p:nvSpPr>
        <p:spPr>
          <a:xfrm>
            <a:off x="731520" y="1417320"/>
            <a:ext cx="54864" cy="47091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17320"/>
            <a:ext cx="3383280" cy="4709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BE123C"/>
                </a:solidFill>
                <a:latin typeface="Arial"/>
              </a:defRPr>
            </a:pPr>
            <a:r>
              <a:t>2. The Security Threats</a:t>
            </a:r>
          </a:p>
          <a:p>
            <a:pPr>
              <a:spcBef>
                <a:spcPts val="800"/>
              </a:spcBef>
            </a:pPr>
            <a:r>
              <a:rPr sz="1250" b="1" i="0">
                <a:solidFill>
                  <a:srgbClr val="1E293B"/>
                </a:solidFill>
                <a:latin typeface="Calibri"/>
              </a:rPr>
              <a:t>• Wiretapping (MitM): </a:t>
            </a:r>
            <a:r>
              <a:rPr sz="1250" b="0" i="0">
                <a:solidFill>
                  <a:srgbClr val="475569"/>
                </a:solidFill>
                <a:latin typeface="Calibri"/>
              </a:rPr>
              <a:t>Adversaries intercept telemetry on untrusted cellular, Wi-Fi, or edge links.</a:t>
            </a:r>
          </a:p>
          <a:p>
            <a:pPr>
              <a:spcBef>
                <a:spcPts val="800"/>
              </a:spcBef>
            </a:pPr>
            <a:r>
              <a:rPr sz="1250" b="1" i="0">
                <a:solidFill>
                  <a:srgbClr val="1E293B"/>
                </a:solidFill>
                <a:latin typeface="Calibri"/>
              </a:rPr>
              <a:t>• Adversarial ML: </a:t>
            </a:r>
            <a:r>
              <a:rPr sz="1250" b="0" i="0">
                <a:solidFill>
                  <a:srgbClr val="475569"/>
                </a:solidFill>
                <a:latin typeface="Calibri"/>
              </a:rPr>
              <a:t>Attackers train machine learning classifiers on raw register patterns.</a:t>
            </a:r>
          </a:p>
          <a:p>
            <a:pPr>
              <a:spcBef>
                <a:spcPts val="800"/>
              </a:spcBef>
            </a:pPr>
            <a:r>
              <a:rPr sz="1250" b="1" i="0">
                <a:solidFill>
                  <a:srgbClr val="1E293B"/>
                </a:solidFill>
                <a:latin typeface="Calibri"/>
              </a:rPr>
              <a:t>• Corporate Espionage: </a:t>
            </a:r>
            <a:r>
              <a:rPr sz="1250" b="0" i="0">
                <a:solidFill>
                  <a:srgbClr val="475569"/>
                </a:solidFill>
                <a:latin typeface="Calibri"/>
              </a:rPr>
              <a:t>Competitors deduce production volumes, operational cycles, and secret recipes.</a:t>
            </a:r>
          </a:p>
          <a:p>
            <a:pPr>
              <a:spcBef>
                <a:spcPts val="800"/>
              </a:spcBef>
            </a:pPr>
            <a:r>
              <a:rPr sz="1250" b="1" i="0">
                <a:solidFill>
                  <a:srgbClr val="1E293B"/>
                </a:solidFill>
                <a:latin typeface="Calibri"/>
              </a:rPr>
              <a:t>• Targeted Sabotage: </a:t>
            </a:r>
            <a:r>
              <a:rPr sz="1250" b="0" i="0">
                <a:solidFill>
                  <a:srgbClr val="475569"/>
                </a:solidFill>
                <a:latin typeface="Calibri"/>
              </a:rPr>
              <a:t>Precursor reconnaissance enables Stuxnet-like physical equipment damage.</a:t>
            </a:r>
          </a:p>
        </p:txBody>
      </p:sp>
      <p:sp>
        <p:nvSpPr>
          <p:cNvPr id="10" name="Rectangle 9"/>
          <p:cNvSpPr/>
          <p:nvPr/>
        </p:nvSpPr>
        <p:spPr>
          <a:xfrm>
            <a:off x="4389120" y="1417320"/>
            <a:ext cx="54864" cy="4709160"/>
          </a:xfrm>
          <a:prstGeom prst="rect">
            <a:avLst/>
          </a:prstGeom>
          <a:solidFill>
            <a:srgbClr val="BE123C"/>
          </a:solidFill>
          <a:ln>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417320"/>
            <a:ext cx="3383280" cy="4709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284C7"/>
                </a:solidFill>
                <a:latin typeface="Arial"/>
              </a:defRPr>
            </a:pPr>
            <a:r>
              <a:t>3. The Operational Requirement</a:t>
            </a:r>
          </a:p>
          <a:p>
            <a:pPr>
              <a:spcBef>
                <a:spcPts val="800"/>
              </a:spcBef>
            </a:pPr>
            <a:r>
              <a:rPr sz="1250" b="1" i="0">
                <a:solidFill>
                  <a:srgbClr val="1E293B"/>
                </a:solidFill>
                <a:latin typeface="Calibri"/>
              </a:rPr>
              <a:t>• Cloud Analytics: </a:t>
            </a:r>
            <a:r>
              <a:rPr sz="1250" b="0" i="0">
                <a:solidFill>
                  <a:srgbClr val="475569"/>
                </a:solidFill>
                <a:latin typeface="Calibri"/>
              </a:rPr>
              <a:t>Modern plants stream telemetry to the cloud for AI digital twins and anomaly detection.</a:t>
            </a:r>
          </a:p>
          <a:p>
            <a:pPr>
              <a:spcBef>
                <a:spcPts val="800"/>
              </a:spcBef>
            </a:pPr>
            <a:r>
              <a:rPr sz="1250" b="1" i="0">
                <a:solidFill>
                  <a:srgbClr val="1E293B"/>
                </a:solidFill>
                <a:latin typeface="Calibri"/>
              </a:rPr>
              <a:t>• Precision Sensitivity: </a:t>
            </a:r>
            <a:r>
              <a:rPr sz="1250" b="0" i="0">
                <a:solidFill>
                  <a:srgbClr val="475569"/>
                </a:solidFill>
                <a:latin typeface="Calibri"/>
              </a:rPr>
              <a:t>Control decisions demand exact floating-point and integer measurements.</a:t>
            </a:r>
          </a:p>
          <a:p>
            <a:pPr>
              <a:spcBef>
                <a:spcPts val="800"/>
              </a:spcBef>
            </a:pPr>
            <a:r>
              <a:rPr sz="1250" b="1" i="0">
                <a:solidFill>
                  <a:srgbClr val="1E293B"/>
                </a:solidFill>
                <a:latin typeface="Calibri"/>
              </a:rPr>
              <a:t>• Intolerance to Noise: </a:t>
            </a:r>
            <a:r>
              <a:rPr sz="1250" b="0" i="0">
                <a:solidFill>
                  <a:srgbClr val="475569"/>
                </a:solidFill>
                <a:latin typeface="Calibri"/>
              </a:rPr>
              <a:t>A 1–2% permanent error in chlorine or pressure triggers safety shutdowns.</a:t>
            </a:r>
          </a:p>
          <a:p>
            <a:pPr>
              <a:spcBef>
                <a:spcPts val="800"/>
              </a:spcBef>
            </a:pPr>
            <a:r>
              <a:rPr sz="1250" b="1" i="0">
                <a:solidFill>
                  <a:srgbClr val="1E293B"/>
                </a:solidFill>
                <a:latin typeface="Calibri"/>
              </a:rPr>
              <a:t>• The Core Objective: </a:t>
            </a:r>
            <a:r>
              <a:rPr sz="1250" b="0" i="0">
                <a:solidFill>
                  <a:srgbClr val="475569"/>
                </a:solidFill>
                <a:latin typeface="Calibri"/>
              </a:rPr>
              <a:t>Scramble telemetry in-transit while guaranteeing 100% exact cloud restoration.</a:t>
            </a:r>
          </a:p>
        </p:txBody>
      </p:sp>
      <p:sp>
        <p:nvSpPr>
          <p:cNvPr id="12" name="Rectangle 11"/>
          <p:cNvSpPr/>
          <p:nvPr/>
        </p:nvSpPr>
        <p:spPr>
          <a:xfrm>
            <a:off x="8046720" y="1417320"/>
            <a:ext cx="54864" cy="470916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RESEARCH GAP</a:t>
            </a:r>
          </a:p>
          <a:p>
            <a:pPr>
              <a:spcBef>
                <a:spcPts val="200"/>
              </a:spcBef>
              <a:defRPr sz="2200" b="1">
                <a:solidFill>
                  <a:srgbClr val="1E3A8A"/>
                </a:solidFill>
                <a:latin typeface="Arial"/>
              </a:defRPr>
            </a:pPr>
            <a:r>
              <a:t>Why Conventional Defenses Fail on Legacy IIoT</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3 of 13</a:t>
            </a:r>
          </a:p>
        </p:txBody>
      </p:sp>
      <p:sp>
        <p:nvSpPr>
          <p:cNvPr id="7" name="Rectangle 6"/>
          <p:cNvSpPr/>
          <p:nvPr/>
        </p:nvSpPr>
        <p:spPr>
          <a:xfrm>
            <a:off x="731520" y="1417320"/>
            <a:ext cx="5212080" cy="3749039"/>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BE123C"/>
                </a:solidFill>
                <a:latin typeface="Arial"/>
              </a:defRPr>
            </a:pPr>
            <a:r>
              <a:t>Limitation of Heavy Cryptography (AES / TLS)</a:t>
            </a:r>
          </a:p>
          <a:p>
            <a:pPr>
              <a:spcBef>
                <a:spcPts val="600"/>
              </a:spcBef>
            </a:pPr>
            <a:r>
              <a:rPr sz="1250" b="1" i="0">
                <a:solidFill>
                  <a:srgbClr val="1E293B"/>
                </a:solidFill>
                <a:latin typeface="Calibri"/>
              </a:rPr>
              <a:t>• Hardware Constraint: </a:t>
            </a:r>
            <a:r>
              <a:rPr sz="1250" b="0" i="0">
                <a:solidFill>
                  <a:srgbClr val="475569"/>
                </a:solidFill>
                <a:latin typeface="Calibri"/>
              </a:rPr>
              <a:t>Legacy 8-bit/16-bit PLCs (16–48 MHz) lack dedicated AES-NI hardware instructions.</a:t>
            </a:r>
          </a:p>
          <a:p>
            <a:pPr>
              <a:spcBef>
                <a:spcPts val="600"/>
              </a:spcBef>
            </a:pPr>
            <a:r>
              <a:rPr sz="1250" b="1" i="0">
                <a:solidFill>
                  <a:srgbClr val="1E293B"/>
                </a:solidFill>
                <a:latin typeface="Calibri"/>
              </a:rPr>
              <a:t>• Latency Penalty: </a:t>
            </a:r>
            <a:r>
              <a:rPr sz="1250" b="0" i="0">
                <a:solidFill>
                  <a:srgbClr val="475569"/>
                </a:solidFill>
                <a:latin typeface="Calibri"/>
              </a:rPr>
              <a:t>Software AES-128 incurs ~10.5 µs per packet—violating sub-millisecond Modbus scan cycles.</a:t>
            </a:r>
          </a:p>
          <a:p>
            <a:pPr>
              <a:spcBef>
                <a:spcPts val="600"/>
              </a:spcBef>
            </a:pPr>
            <a:r>
              <a:rPr sz="1250" b="1" i="0">
                <a:solidFill>
                  <a:srgbClr val="1E293B"/>
                </a:solidFill>
                <a:latin typeface="Calibri"/>
              </a:rPr>
              <a:t>• Resource Exhaustion: </a:t>
            </a:r>
            <a:r>
              <a:rPr sz="1250" b="0" i="0">
                <a:solidFill>
                  <a:srgbClr val="475569"/>
                </a:solidFill>
                <a:latin typeface="Calibri"/>
              </a:rPr>
              <a:t>Handshake overhead and stateful buffering cause memory overflow and dropped packets.</a:t>
            </a:r>
          </a:p>
          <a:p>
            <a:pPr>
              <a:spcBef>
                <a:spcPts val="600"/>
              </a:spcBef>
            </a:pPr>
            <a:r>
              <a:rPr sz="1250" b="1" i="0">
                <a:solidFill>
                  <a:srgbClr val="1E293B"/>
                </a:solidFill>
                <a:latin typeface="Calibri"/>
              </a:rPr>
              <a:t>• Practical Verdict: </a:t>
            </a:r>
            <a:r>
              <a:rPr sz="1250" b="0" i="0">
                <a:solidFill>
                  <a:srgbClr val="475569"/>
                </a:solidFill>
                <a:latin typeface="Calibri"/>
              </a:rPr>
              <a:t>Unviable for real-time legacy industrial control loops.</a:t>
            </a:r>
          </a:p>
        </p:txBody>
      </p:sp>
      <p:sp>
        <p:nvSpPr>
          <p:cNvPr id="8" name="Rectangle 7"/>
          <p:cNvSpPr/>
          <p:nvPr/>
        </p:nvSpPr>
        <p:spPr>
          <a:xfrm>
            <a:off x="731520" y="1417320"/>
            <a:ext cx="54864" cy="3749039"/>
          </a:xfrm>
          <a:prstGeom prst="rect">
            <a:avLst/>
          </a:prstGeom>
          <a:solidFill>
            <a:srgbClr val="BE123C"/>
          </a:solidFill>
          <a:ln>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417320"/>
            <a:ext cx="5212080" cy="3749039"/>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BE123C"/>
                </a:solidFill>
                <a:latin typeface="Arial"/>
              </a:defRPr>
            </a:pPr>
            <a:r>
              <a:t>Limitation of Differential Privacy (Noise Addition)</a:t>
            </a:r>
          </a:p>
          <a:p>
            <a:pPr>
              <a:spcBef>
                <a:spcPts val="600"/>
              </a:spcBef>
            </a:pPr>
            <a:r>
              <a:rPr sz="1250" b="1" i="0">
                <a:solidFill>
                  <a:srgbClr val="1E293B"/>
                </a:solidFill>
                <a:latin typeface="Calibri"/>
              </a:rPr>
              <a:t>• Irreversible Distortion: </a:t>
            </a:r>
            <a:r>
              <a:rPr sz="1250" b="0" i="0">
                <a:solidFill>
                  <a:srgbClr val="475569"/>
                </a:solidFill>
                <a:latin typeface="Calibri"/>
              </a:rPr>
              <a:t>Gaussian or Laplacian perturbation permanently destroys original sensor values.</a:t>
            </a:r>
          </a:p>
          <a:p>
            <a:pPr>
              <a:spcBef>
                <a:spcPts val="600"/>
              </a:spcBef>
            </a:pPr>
            <a:r>
              <a:rPr sz="1250" b="1" i="0">
                <a:solidFill>
                  <a:srgbClr val="1E293B"/>
                </a:solidFill>
                <a:latin typeface="Calibri"/>
              </a:rPr>
              <a:t>• Utility Destruction: </a:t>
            </a:r>
            <a:r>
              <a:rPr sz="1250" b="0" i="0">
                <a:solidFill>
                  <a:srgbClr val="475569"/>
                </a:solidFill>
                <a:latin typeface="Calibri"/>
              </a:rPr>
              <a:t>Cloud anomaly detection algorithms and safety monitoring systems receive corrupted inputs.</a:t>
            </a:r>
          </a:p>
          <a:p>
            <a:pPr>
              <a:spcBef>
                <a:spcPts val="600"/>
              </a:spcBef>
            </a:pPr>
            <a:r>
              <a:rPr sz="1250" b="1" i="0">
                <a:solidFill>
                  <a:srgbClr val="1E293B"/>
                </a:solidFill>
                <a:latin typeface="Calibri"/>
              </a:rPr>
              <a:t>• Safety Risks: </a:t>
            </a:r>
            <a:r>
              <a:rPr sz="1250" b="0" i="0">
                <a:solidFill>
                  <a:srgbClr val="475569"/>
                </a:solidFill>
                <a:latin typeface="Calibri"/>
              </a:rPr>
              <a:t>Permanent noise masks genuine equipment anomalies or triggers false emergency shutdowns.</a:t>
            </a:r>
          </a:p>
          <a:p>
            <a:pPr>
              <a:spcBef>
                <a:spcPts val="600"/>
              </a:spcBef>
            </a:pPr>
            <a:r>
              <a:rPr sz="1250" b="1" i="0">
                <a:solidFill>
                  <a:srgbClr val="1E293B"/>
                </a:solidFill>
                <a:latin typeface="Calibri"/>
              </a:rPr>
              <a:t>• Practical Verdict: </a:t>
            </a:r>
            <a:r>
              <a:rPr sz="1250" b="0" i="0">
                <a:solidFill>
                  <a:srgbClr val="475569"/>
                </a:solidFill>
                <a:latin typeface="Calibri"/>
              </a:rPr>
              <a:t>Unacceptable for safety-critical precision SCADA telemetry.</a:t>
            </a:r>
          </a:p>
        </p:txBody>
      </p:sp>
      <p:sp>
        <p:nvSpPr>
          <p:cNvPr id="10" name="Rectangle 9"/>
          <p:cNvSpPr/>
          <p:nvPr/>
        </p:nvSpPr>
        <p:spPr>
          <a:xfrm>
            <a:off x="6248095" y="1417320"/>
            <a:ext cx="54864" cy="3749039"/>
          </a:xfrm>
          <a:prstGeom prst="rect">
            <a:avLst/>
          </a:prstGeom>
          <a:solidFill>
            <a:srgbClr val="BE123C"/>
          </a:solidFill>
          <a:ln>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349240"/>
            <a:ext cx="10728655" cy="868680"/>
          </a:xfrm>
          <a:prstGeom prst="rect">
            <a:avLst/>
          </a:prstGeom>
          <a:solidFill>
            <a:srgbClr val="F0F7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r>
              <a:rPr sz="1350" b="1" i="0">
                <a:solidFill>
                  <a:srgbClr val="1E3A8A"/>
                </a:solidFill>
                <a:latin typeface="Arial"/>
              </a:rPr>
              <a:t>Central Research Question: </a:t>
            </a:r>
            <a:r>
              <a:rPr sz="1250" b="0" i="0">
                <a:solidFill>
                  <a:srgbClr val="1E293B"/>
                </a:solidFill>
                <a:latin typeface="Calibri"/>
              </a:rPr>
              <a:t>Can we achieve high-throughput, in-flight telemetry obfuscation on constrained legacy hardware while guaranteeing 100% exact numerical restoration for authorized cloud systems?</a:t>
            </a:r>
          </a:p>
        </p:txBody>
      </p:sp>
      <p:sp>
        <p:nvSpPr>
          <p:cNvPr id="12" name="Rectangle 11"/>
          <p:cNvSpPr/>
          <p:nvPr/>
        </p:nvSpPr>
        <p:spPr>
          <a:xfrm>
            <a:off x="731520" y="5349240"/>
            <a:ext cx="54864" cy="86868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SYSTEM ARCHITECTURE</a:t>
            </a:r>
          </a:p>
          <a:p>
            <a:pPr>
              <a:spcBef>
                <a:spcPts val="200"/>
              </a:spcBef>
              <a:defRPr sz="2200" b="1">
                <a:solidFill>
                  <a:srgbClr val="1E3A8A"/>
                </a:solidFill>
                <a:latin typeface="Arial"/>
              </a:defRPr>
            </a:pPr>
            <a:r>
              <a:t>L-RAPID: Lightweight Reversible Data Perturbation</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4 of 13</a:t>
            </a:r>
          </a:p>
        </p:txBody>
      </p:sp>
      <p:sp>
        <p:nvSpPr>
          <p:cNvPr id="7" name="Rectangle 6"/>
          <p:cNvSpPr/>
          <p:nvPr/>
        </p:nvSpPr>
        <p:spPr>
          <a:xfrm>
            <a:off x="731520" y="1417320"/>
            <a:ext cx="3383280" cy="3657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1E3A8A"/>
                </a:solidFill>
                <a:latin typeface="Arial"/>
              </a:defRPr>
            </a:pPr>
            <a:r>
              <a:t>1. Legacy Edge PLC</a:t>
            </a:r>
          </a:p>
          <a:p>
            <a:pPr>
              <a:spcBef>
                <a:spcPts val="500"/>
              </a:spcBef>
            </a:pPr>
            <a:r>
              <a:rPr sz="1200" b="1" i="0">
                <a:solidFill>
                  <a:srgbClr val="1E293B"/>
                </a:solidFill>
                <a:latin typeface="Calibri"/>
              </a:rPr>
              <a:t>• Input: </a:t>
            </a:r>
            <a:r>
              <a:rPr sz="1200" b="0" i="0">
                <a:solidFill>
                  <a:srgbClr val="475569"/>
                </a:solidFill>
                <a:latin typeface="Calibri"/>
              </a:rPr>
              <a:t>Modbus registers FC1–FC4.</a:t>
            </a:r>
          </a:p>
          <a:p>
            <a:pPr>
              <a:spcBef>
                <a:spcPts val="500"/>
              </a:spcBef>
            </a:pPr>
            <a:r>
              <a:rPr sz="1200" b="1" i="0">
                <a:solidFill>
                  <a:srgbClr val="1E293B"/>
                </a:solidFill>
                <a:latin typeface="Calibri"/>
              </a:rPr>
              <a:t>• Register Packing: </a:t>
            </a:r>
            <a:r>
              <a:rPr sz="1200" b="0" i="0">
                <a:solidFill>
                  <a:srgbClr val="475569"/>
                </a:solidFill>
                <a:latin typeface="Calibri"/>
              </a:rPr>
              <a:t>Packs four 16-bit values into a single 64-bit integer.</a:t>
            </a:r>
          </a:p>
          <a:p>
            <a:pPr>
              <a:spcBef>
                <a:spcPts val="500"/>
              </a:spcBef>
            </a:pPr>
            <a:r>
              <a:rPr sz="1200" b="1" i="0">
                <a:solidFill>
                  <a:srgbClr val="1E293B"/>
                </a:solidFill>
                <a:latin typeface="Calibri"/>
              </a:rPr>
              <a:t>• Keystream Generation: </a:t>
            </a:r>
            <a:r>
              <a:rPr sz="1200" b="0" i="0">
                <a:solidFill>
                  <a:srgbClr val="475569"/>
                </a:solidFill>
                <a:latin typeface="Calibri"/>
              </a:rPr>
              <a:t>Derives 64-bit mask from shared secret synchronization.</a:t>
            </a:r>
          </a:p>
          <a:p>
            <a:pPr>
              <a:spcBef>
                <a:spcPts val="500"/>
              </a:spcBef>
            </a:pPr>
            <a:r>
              <a:rPr sz="1200" b="1" i="0">
                <a:solidFill>
                  <a:srgbClr val="1E293B"/>
                </a:solidFill>
                <a:latin typeface="Calibri"/>
              </a:rPr>
              <a:t>• In-Flight Masking: </a:t>
            </a:r>
            <a:r>
              <a:rPr sz="1200" b="0" i="0">
                <a:solidFill>
                  <a:srgbClr val="475569"/>
                </a:solidFill>
                <a:latin typeface="Calibri"/>
              </a:rPr>
              <a:t>Applies packed bitwise XOR: C = P ⊕ K.</a:t>
            </a:r>
          </a:p>
          <a:p>
            <a:pPr>
              <a:spcBef>
                <a:spcPts val="500"/>
              </a:spcBef>
            </a:pPr>
            <a:r>
              <a:rPr sz="1200" b="1" i="0">
                <a:solidFill>
                  <a:srgbClr val="1E293B"/>
                </a:solidFill>
                <a:latin typeface="Calibri"/>
              </a:rPr>
              <a:t>• Micro-Benchmark: </a:t>
            </a:r>
            <a:r>
              <a:rPr sz="1200" b="0" i="0">
                <a:solidFill>
                  <a:srgbClr val="475569"/>
                </a:solidFill>
                <a:latin typeface="Calibri"/>
              </a:rPr>
              <a:t>Executes in 0.15 µs (sub-microsecond latency).</a:t>
            </a:r>
          </a:p>
        </p:txBody>
      </p:sp>
      <p:sp>
        <p:nvSpPr>
          <p:cNvPr id="8" name="Rectangle 7"/>
          <p:cNvSpPr/>
          <p:nvPr/>
        </p:nvSpPr>
        <p:spPr>
          <a:xfrm>
            <a:off x="731520" y="1417320"/>
            <a:ext cx="54864" cy="3657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17320"/>
            <a:ext cx="3383280" cy="3657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BE123C"/>
                </a:solidFill>
                <a:latin typeface="Arial"/>
              </a:defRPr>
            </a:pPr>
            <a:r>
              <a:t>2. Untrusted Wiretap Link</a:t>
            </a:r>
          </a:p>
          <a:p>
            <a:pPr>
              <a:spcBef>
                <a:spcPts val="500"/>
              </a:spcBef>
            </a:pPr>
            <a:r>
              <a:rPr sz="1200" b="1" i="0">
                <a:solidFill>
                  <a:srgbClr val="1E293B"/>
                </a:solidFill>
                <a:latin typeface="Calibri"/>
              </a:rPr>
              <a:t>• Network Channel: </a:t>
            </a:r>
            <a:r>
              <a:rPr sz="1200" b="0" i="0">
                <a:solidFill>
                  <a:srgbClr val="475569"/>
                </a:solidFill>
                <a:latin typeface="Calibri"/>
              </a:rPr>
              <a:t>Public Internet, 4G cellular, or Wi-Fi gateway.</a:t>
            </a:r>
          </a:p>
          <a:p>
            <a:pPr>
              <a:spcBef>
                <a:spcPts val="500"/>
              </a:spcBef>
            </a:pPr>
            <a:r>
              <a:rPr sz="1200" b="1" i="0">
                <a:solidFill>
                  <a:srgbClr val="1E293B"/>
                </a:solidFill>
                <a:latin typeface="Calibri"/>
              </a:rPr>
              <a:t>• Adversary Interception: </a:t>
            </a:r>
            <a:r>
              <a:rPr sz="1200" b="0" i="0">
                <a:solidFill>
                  <a:srgbClr val="475569"/>
                </a:solidFill>
                <a:latin typeface="Calibri"/>
              </a:rPr>
              <a:t>Attacker intercepts perturbed telemetry stream.</a:t>
            </a:r>
          </a:p>
          <a:p>
            <a:pPr>
              <a:spcBef>
                <a:spcPts val="500"/>
              </a:spcBef>
            </a:pPr>
            <a:r>
              <a:rPr sz="1200" b="1" i="0">
                <a:solidFill>
                  <a:srgbClr val="1E293B"/>
                </a:solidFill>
                <a:latin typeface="Calibri"/>
              </a:rPr>
              <a:t>• Obfuscated Signal: </a:t>
            </a:r>
            <a:r>
              <a:rPr sz="1200" b="0" i="0">
                <a:solidFill>
                  <a:srgbClr val="475569"/>
                </a:solidFill>
                <a:latin typeface="Calibri"/>
              </a:rPr>
              <a:t>Features exhibit uniform high-entropy distribution.</a:t>
            </a:r>
          </a:p>
          <a:p>
            <a:pPr>
              <a:spcBef>
                <a:spcPts val="500"/>
              </a:spcBef>
            </a:pPr>
            <a:r>
              <a:rPr sz="1200" b="1" i="0">
                <a:solidFill>
                  <a:srgbClr val="1E293B"/>
                </a:solidFill>
                <a:latin typeface="Calibri"/>
              </a:rPr>
              <a:t>• Static Attacker: </a:t>
            </a:r>
            <a:r>
              <a:rPr sz="1200" b="0" i="0">
                <a:solidFill>
                  <a:srgbClr val="475569"/>
                </a:solidFill>
                <a:latin typeface="Calibri"/>
              </a:rPr>
              <a:t>Detection accuracy collapses to 48.8%.</a:t>
            </a:r>
          </a:p>
          <a:p>
            <a:pPr>
              <a:spcBef>
                <a:spcPts val="500"/>
              </a:spcBef>
            </a:pPr>
            <a:r>
              <a:rPr sz="1200" b="1" i="0">
                <a:solidFill>
                  <a:srgbClr val="1E293B"/>
                </a:solidFill>
                <a:latin typeface="Calibri"/>
              </a:rPr>
              <a:t>• Adaptive Attacker: </a:t>
            </a:r>
            <a:r>
              <a:rPr sz="1200" b="0" i="0">
                <a:solidFill>
                  <a:srgbClr val="475569"/>
                </a:solidFill>
                <a:latin typeface="Calibri"/>
              </a:rPr>
              <a:t>Stuck at 49.9% (equivalent to a 50/50 coin toss).</a:t>
            </a:r>
          </a:p>
        </p:txBody>
      </p:sp>
      <p:sp>
        <p:nvSpPr>
          <p:cNvPr id="10" name="Rectangle 9"/>
          <p:cNvSpPr/>
          <p:nvPr/>
        </p:nvSpPr>
        <p:spPr>
          <a:xfrm>
            <a:off x="4389120" y="1417320"/>
            <a:ext cx="54864" cy="3657600"/>
          </a:xfrm>
          <a:prstGeom prst="rect">
            <a:avLst/>
          </a:prstGeom>
          <a:solidFill>
            <a:srgbClr val="BE123C"/>
          </a:solidFill>
          <a:ln>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417320"/>
            <a:ext cx="3383280" cy="3657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47857"/>
                </a:solidFill>
                <a:latin typeface="Arial"/>
              </a:defRPr>
            </a:pPr>
            <a:r>
              <a:t>3. Authorized Cloud Ingestion</a:t>
            </a:r>
          </a:p>
          <a:p>
            <a:pPr>
              <a:spcBef>
                <a:spcPts val="500"/>
              </a:spcBef>
            </a:pPr>
            <a:r>
              <a:rPr sz="1200" b="1" i="0">
                <a:solidFill>
                  <a:srgbClr val="1E293B"/>
                </a:solidFill>
                <a:latin typeface="Calibri"/>
              </a:rPr>
              <a:t>• Secure Ingestion: </a:t>
            </a:r>
            <a:r>
              <a:rPr sz="1200" b="0" i="0">
                <a:solidFill>
                  <a:srgbClr val="475569"/>
                </a:solidFill>
                <a:latin typeface="Calibri"/>
              </a:rPr>
              <a:t>Cloud shares synchronization state with the PLC.</a:t>
            </a:r>
          </a:p>
          <a:p>
            <a:pPr>
              <a:spcBef>
                <a:spcPts val="500"/>
              </a:spcBef>
            </a:pPr>
            <a:r>
              <a:rPr sz="1200" b="1" i="0">
                <a:solidFill>
                  <a:srgbClr val="1E293B"/>
                </a:solidFill>
                <a:latin typeface="Calibri"/>
              </a:rPr>
              <a:t>• Self-Inversion: </a:t>
            </a:r>
            <a:r>
              <a:rPr sz="1200" b="0" i="0">
                <a:solidFill>
                  <a:srgbClr val="475569"/>
                </a:solidFill>
                <a:latin typeface="Calibri"/>
              </a:rPr>
              <a:t>Re-applies XOR: P = C ⊕ K.</a:t>
            </a:r>
          </a:p>
          <a:p>
            <a:pPr>
              <a:spcBef>
                <a:spcPts val="500"/>
              </a:spcBef>
            </a:pPr>
            <a:r>
              <a:rPr sz="1200" b="1" i="0">
                <a:solidFill>
                  <a:srgbClr val="1E293B"/>
                </a:solidFill>
                <a:latin typeface="Calibri"/>
              </a:rPr>
              <a:t>• Reversibility: </a:t>
            </a:r>
            <a:r>
              <a:rPr sz="1200" b="0" i="0">
                <a:solidFill>
                  <a:srgbClr val="475569"/>
                </a:solidFill>
                <a:latin typeface="Calibri"/>
              </a:rPr>
              <a:t>100.0% Exact bit-for-bit restoration (0 reconstruction error).</a:t>
            </a:r>
          </a:p>
          <a:p>
            <a:pPr>
              <a:spcBef>
                <a:spcPts val="500"/>
              </a:spcBef>
            </a:pPr>
            <a:r>
              <a:rPr sz="1200" b="1" i="0">
                <a:solidFill>
                  <a:srgbClr val="1E293B"/>
                </a:solidFill>
                <a:latin typeface="Calibri"/>
              </a:rPr>
              <a:t>• Full Utility: </a:t>
            </a:r>
            <a:r>
              <a:rPr sz="1200" b="0" i="0">
                <a:solidFill>
                  <a:srgbClr val="475569"/>
                </a:solidFill>
                <a:latin typeface="Calibri"/>
              </a:rPr>
              <a:t>Preserves raw 98.47% baseline intrusion detection.</a:t>
            </a:r>
          </a:p>
          <a:p>
            <a:pPr>
              <a:spcBef>
                <a:spcPts val="500"/>
              </a:spcBef>
            </a:pPr>
            <a:r>
              <a:rPr sz="1200" b="1" i="0">
                <a:solidFill>
                  <a:srgbClr val="1E293B"/>
                </a:solidFill>
                <a:latin typeface="Calibri"/>
              </a:rPr>
              <a:t>• Zero Decryption Math: </a:t>
            </a:r>
            <a:r>
              <a:rPr sz="1200" b="0" i="0">
                <a:solidFill>
                  <a:srgbClr val="475569"/>
                </a:solidFill>
                <a:latin typeface="Calibri"/>
              </a:rPr>
              <a:t>No complex matrix inversions or modular arithmetic.</a:t>
            </a:r>
          </a:p>
        </p:txBody>
      </p:sp>
      <p:sp>
        <p:nvSpPr>
          <p:cNvPr id="12" name="Rectangle 11"/>
          <p:cNvSpPr/>
          <p:nvPr/>
        </p:nvSpPr>
        <p:spPr>
          <a:xfrm>
            <a:off x="8046720" y="1417320"/>
            <a:ext cx="54864" cy="3657600"/>
          </a:xfrm>
          <a:prstGeom prst="rect">
            <a:avLst/>
          </a:prstGeom>
          <a:solidFill>
            <a:srgbClr val="047857"/>
          </a:solidFill>
          <a:ln>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5257800"/>
            <a:ext cx="10728655" cy="960120"/>
          </a:xfrm>
          <a:prstGeom prst="rect">
            <a:avLst/>
          </a:prstGeom>
          <a:solidFill>
            <a:srgbClr val="F0F7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365760" tIns="146304"/>
          <a:lstStyle/>
          <a:p>
            <a:pPr algn="ctr">
              <a:defRPr sz="1300" b="1">
                <a:solidFill>
                  <a:srgbClr val="1E3A8A"/>
                </a:solidFill>
                <a:latin typeface="Arial"/>
              </a:defRPr>
            </a:pPr>
            <a:r>
              <a:t>Self-Inverting Mathematical Principle:   Ciphertext = Plaintext ⊕ Key   ⇒   Restored = (Plaintext ⊕ Key) ⊕ Key = Plaintext</a:t>
            </a:r>
          </a:p>
          <a:p>
            <a:pPr>
              <a:defRPr sz="1200">
                <a:solidFill>
                  <a:srgbClr val="1E293B"/>
                </a:solidFill>
                <a:latin typeface="Calibri"/>
              </a:defRPr>
            </a:pPr>
            <a:r>
              <a:t>Because bitwise XOR is an involution, restoration requires zero computational overhead and guarantees exact arithmetic fidelity for cloud analytics.</a:t>
            </a:r>
          </a:p>
        </p:txBody>
      </p:sp>
      <p:sp>
        <p:nvSpPr>
          <p:cNvPr id="14" name="Rectangle 13"/>
          <p:cNvSpPr/>
          <p:nvPr/>
        </p:nvSpPr>
        <p:spPr>
          <a:xfrm>
            <a:off x="731520" y="5257800"/>
            <a:ext cx="54864" cy="96012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CORE ARCHITECTURE</a:t>
            </a:r>
          </a:p>
          <a:p>
            <a:pPr>
              <a:spcBef>
                <a:spcPts val="200"/>
              </a:spcBef>
              <a:defRPr sz="2200" b="1">
                <a:solidFill>
                  <a:srgbClr val="1E3A8A"/>
                </a:solidFill>
                <a:latin typeface="Arial"/>
              </a:defRPr>
            </a:pPr>
            <a:r>
              <a:t>Packed 64-Bit Word-Parallel Bit Manipulation</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5 of 13</a:t>
            </a:r>
          </a:p>
        </p:txBody>
      </p:sp>
      <p:sp>
        <p:nvSpPr>
          <p:cNvPr id="7" name="Rectangle 6"/>
          <p:cNvSpPr/>
          <p:nvPr/>
        </p:nvSpPr>
        <p:spPr>
          <a:xfrm>
            <a:off x="731520"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Multi-Register Bit Packing Mechanics</a:t>
            </a:r>
          </a:p>
          <a:p>
            <a:pPr>
              <a:spcBef>
                <a:spcPts val="600"/>
              </a:spcBef>
            </a:pPr>
            <a:r>
              <a:rPr sz="1150" b="1" i="0">
                <a:solidFill>
                  <a:srgbClr val="0F294A"/>
                </a:solidFill>
                <a:latin typeface="Arial"/>
              </a:rPr>
              <a:t>The Modbus Telemetry Structure:
</a:t>
            </a:r>
            <a:r>
              <a:rPr sz="1200" b="0" i="0">
                <a:solidFill>
                  <a:srgbClr val="475569"/>
                </a:solidFill>
                <a:latin typeface="Calibri"/>
              </a:rPr>
              <a:t>Modbus frames stream multiple contiguous 16-bit registers. In our design, four registers span exactly 64 bits.</a:t>
            </a:r>
          </a:p>
          <a:p>
            <a:pPr>
              <a:spcBef>
                <a:spcPts val="600"/>
              </a:spcBef>
            </a:pPr>
            <a:r>
              <a:rPr sz="1150" b="1" i="0">
                <a:solidFill>
                  <a:srgbClr val="0F294A"/>
                </a:solidFill>
                <a:latin typeface="Arial"/>
              </a:rPr>
              <a:t>Conventional Register-by-Register Masking (16-bit):
</a:t>
            </a:r>
            <a:r>
              <a:rPr sz="1200" b="0" i="0">
                <a:solidFill>
                  <a:srgbClr val="475569"/>
                </a:solidFill>
                <a:latin typeface="Calibri"/>
              </a:rPr>
              <a:t>• Requires 4 independent memory loads, 4 XOR calls, and 4 memory stores.
• Measured per-packet latency: 1.48 µs.</a:t>
            </a:r>
          </a:p>
          <a:p>
            <a:pPr>
              <a:spcBef>
                <a:spcPts val="600"/>
              </a:spcBef>
            </a:pPr>
            <a:r>
              <a:rPr sz="1150" b="1" i="0">
                <a:solidFill>
                  <a:srgbClr val="0F294A"/>
                </a:solidFill>
                <a:latin typeface="Arial"/>
              </a:rPr>
              <a:t>Our Approach: Packed Word-Parallel Processing (64-bit):
</a:t>
            </a:r>
            <a:r>
              <a:rPr sz="1050" b="0" i="0">
                <a:solidFill>
                  <a:srgbClr val="0284C7"/>
                </a:solidFill>
                <a:latin typeface="Consolas"/>
              </a:rPr>
              <a:t>uint64_t packed = ((uint64_t)FC1 &lt;&lt; 48) |
                  ((uint64_t)FC2 &lt;&lt; 32) |
                  ((uint64_t)FC3 &lt;&lt; 16) |
                  ((uint64_t)FC4);
packed_perturbed = packed ^ keystream_64;</a:t>
            </a:r>
          </a:p>
          <a:p>
            <a:pPr>
              <a:spcBef>
                <a:spcPts val="600"/>
              </a:spcBef>
            </a:pPr>
            <a:r>
              <a:rPr sz="1150" b="1" i="0">
                <a:solidFill>
                  <a:srgbClr val="0F294A"/>
                </a:solidFill>
                <a:latin typeface="Arial"/>
              </a:rPr>
              <a:t>Throughput Impact:
</a:t>
            </a:r>
            <a:r>
              <a:rPr sz="1200" b="0" i="0">
                <a:solidFill>
                  <a:srgbClr val="0284C7"/>
                </a:solidFill>
                <a:latin typeface="Calibri"/>
              </a:rPr>
              <a:t>• A single 64-bit CPU instruction perturbs all 4 registers simultaneously.
• Latency drops to 0.15 µs (10× faster than 16-bit masking)!</a:t>
            </a:r>
          </a:p>
        </p:txBody>
      </p:sp>
      <p:sp>
        <p:nvSpPr>
          <p:cNvPr id="8" name="Rectangle 7"/>
          <p:cNvSpPr/>
          <p:nvPr/>
        </p:nvSpPr>
        <p:spPr>
          <a:xfrm>
            <a:off x="731520" y="1417320"/>
            <a:ext cx="54864" cy="4800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Important Architectural Distinctions</a:t>
            </a:r>
          </a:p>
          <a:p>
            <a:pPr>
              <a:spcBef>
                <a:spcPts val="800"/>
              </a:spcBef>
            </a:pPr>
            <a:r>
              <a:rPr sz="1250" b="1" i="0">
                <a:solidFill>
                  <a:srgbClr val="0F294A"/>
                </a:solidFill>
                <a:latin typeface="Arial"/>
              </a:rPr>
              <a:t>1. Word Parallelism vs. Cryptographic Diffusion:
</a:t>
            </a:r>
            <a:r>
              <a:rPr sz="1200" b="0" i="0">
                <a:solidFill>
                  <a:srgbClr val="475569"/>
                </a:solidFill>
                <a:latin typeface="Calibri"/>
              </a:rPr>
              <a:t>• Why is packed XOR 10× faster? It exploits 64-bit word-level parallelism inside modern edge CPU registers.
• Scientific Nuance: Bitwise XOR does NOT diffuse entropy across register boundaries. Each register is masked by its corresponding 16-bit block.
• The speedup is purely architectural, which is the honest engineering claim.</a:t>
            </a:r>
          </a:p>
          <a:p>
            <a:pPr>
              <a:spcBef>
                <a:spcPts val="800"/>
              </a:spcBef>
            </a:pPr>
            <a:r>
              <a:rPr sz="1250" b="1" i="0">
                <a:solidFill>
                  <a:srgbClr val="0F294A"/>
                </a:solidFill>
                <a:latin typeface="Arial"/>
              </a:rPr>
              <a:t>2. Masking Domain vs. Key Space:
</a:t>
            </a:r>
            <a:r>
              <a:rPr sz="1200" b="0" i="0">
                <a:solidFill>
                  <a:srgbClr val="475569"/>
                </a:solidFill>
                <a:latin typeface="Calibri"/>
              </a:rPr>
              <a:t>• The 64-bit approach spans a packed 64-bit masking domain (2^64 states ≈ 1.84 × 10^19 combinations).
• In this prototype, the keystream is generated deterministically from a shared PRNG seed (999).
• In production, this domain is seeded by dynamic stream ciphers (ChaCha20 or ASCON-128a) paired with per-packet nonces.</a:t>
            </a:r>
          </a:p>
        </p:txBody>
      </p:sp>
      <p:sp>
        <p:nvSpPr>
          <p:cNvPr id="10" name="Rectangle 9"/>
          <p:cNvSpPr/>
          <p:nvPr/>
        </p:nvSpPr>
        <p:spPr>
          <a:xfrm>
            <a:off x="6248095" y="1417320"/>
            <a:ext cx="54864" cy="48006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DATASET &amp; BASELINE ML</a:t>
            </a:r>
          </a:p>
          <a:p>
            <a:pPr>
              <a:spcBef>
                <a:spcPts val="200"/>
              </a:spcBef>
              <a:defRPr sz="2200" b="1">
                <a:solidFill>
                  <a:srgbClr val="1E3A8A"/>
                </a:solidFill>
                <a:latin typeface="Arial"/>
              </a:defRPr>
            </a:pPr>
            <a:r>
              <a:t>ToN_IoT Modbus Dataset &amp; Baseline Evaluation</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6 of 13</a:t>
            </a:r>
          </a:p>
        </p:txBody>
      </p:sp>
      <p:sp>
        <p:nvSpPr>
          <p:cNvPr id="7" name="Rectangle 6"/>
          <p:cNvSpPr/>
          <p:nvPr/>
        </p:nvSpPr>
        <p:spPr>
          <a:xfrm>
            <a:off x="731520"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The ToN_IoT Modbus Benchmark</a:t>
            </a:r>
          </a:p>
          <a:p>
            <a:pPr>
              <a:spcBef>
                <a:spcPts val="600"/>
              </a:spcBef>
            </a:pPr>
            <a:r>
              <a:rPr sz="1250" b="1" i="0">
                <a:solidFill>
                  <a:srgbClr val="1E293B"/>
                </a:solidFill>
                <a:latin typeface="Calibri"/>
              </a:rPr>
              <a:t>• Benchmark Origin: </a:t>
            </a:r>
            <a:r>
              <a:rPr sz="1250" b="0" i="0">
                <a:solidFill>
                  <a:srgbClr val="475569"/>
                </a:solidFill>
                <a:latin typeface="Calibri"/>
              </a:rPr>
              <a:t>Modbus telemetry subset of the ToN_IoT dataset (Nour Moustafa, IEEE Dataport, 2019).</a:t>
            </a:r>
          </a:p>
          <a:p>
            <a:pPr>
              <a:spcBef>
                <a:spcPts val="600"/>
              </a:spcBef>
            </a:pPr>
            <a:r>
              <a:rPr sz="1250" b="1" i="0">
                <a:solidFill>
                  <a:srgbClr val="1E293B"/>
                </a:solidFill>
                <a:latin typeface="Calibri"/>
              </a:rPr>
              <a:t>• Sample Size: </a:t>
            </a:r>
            <a:r>
              <a:rPr sz="1250" b="0" i="0">
                <a:solidFill>
                  <a:srgbClr val="475569"/>
                </a:solidFill>
                <a:latin typeface="Calibri"/>
              </a:rPr>
              <a:t>31,106 industrial telemetry records reflecting real network SCADA traffic.</a:t>
            </a:r>
          </a:p>
          <a:p>
            <a:pPr>
              <a:spcBef>
                <a:spcPts val="600"/>
              </a:spcBef>
            </a:pPr>
            <a:r>
              <a:rPr sz="1250" b="1" i="0">
                <a:solidFill>
                  <a:srgbClr val="1E293B"/>
                </a:solidFill>
                <a:latin typeface="Calibri"/>
              </a:rPr>
              <a:t>• Balanced Distribution: </a:t>
            </a:r>
            <a:r>
              <a:rPr sz="1250" b="0" i="0">
                <a:solidFill>
                  <a:srgbClr val="475569"/>
                </a:solidFill>
                <a:latin typeface="Calibri"/>
              </a:rPr>
              <a:t>15,000 Normal (48.2%) vs. 16,106 Attack (51.8%) samples.</a:t>
            </a:r>
          </a:p>
          <a:p>
            <a:pPr>
              <a:spcBef>
                <a:spcPts val="600"/>
              </a:spcBef>
            </a:pPr>
            <a:r>
              <a:rPr sz="1250" b="1" i="0">
                <a:solidFill>
                  <a:srgbClr val="1E293B"/>
                </a:solidFill>
                <a:latin typeface="Calibri"/>
              </a:rPr>
              <a:t>• 5 Attack Categories: </a:t>
            </a:r>
            <a:r>
              <a:rPr sz="1250" b="0" i="0">
                <a:solidFill>
                  <a:srgbClr val="475569"/>
                </a:solidFill>
                <a:latin typeface="Calibri"/>
              </a:rPr>
              <a:t>Scanning, Backdoor, Injection, XSS, and Password attacks.</a:t>
            </a:r>
          </a:p>
          <a:p>
            <a:pPr>
              <a:spcBef>
                <a:spcPts val="600"/>
              </a:spcBef>
            </a:pPr>
            <a:r>
              <a:rPr sz="1250" b="1" i="0">
                <a:solidFill>
                  <a:srgbClr val="1E293B"/>
                </a:solidFill>
                <a:latin typeface="Calibri"/>
              </a:rPr>
              <a:t>• Telemetry Features: </a:t>
            </a:r>
            <a:r>
              <a:rPr sz="1250" b="0" i="0">
                <a:solidFill>
                  <a:srgbClr val="475569"/>
                </a:solidFill>
                <a:latin typeface="Calibri"/>
              </a:rPr>
              <a:t>Four standard Modbus Function Codes:
  - FC1: Read Input Register (Analog sensor telemetry)
  - FC2: Read Discrete Value (Binary sensor states)
  - FC3: Read Holding Register (Actuator/configuration settings)
  - FC4: Read Coil (Discrete actuator states)</a:t>
            </a:r>
          </a:p>
          <a:p>
            <a:pPr>
              <a:spcBef>
                <a:spcPts val="600"/>
              </a:spcBef>
            </a:pPr>
            <a:r>
              <a:rPr sz="1250" b="1" i="0">
                <a:solidFill>
                  <a:srgbClr val="1E293B"/>
                </a:solidFill>
                <a:latin typeface="Calibri"/>
              </a:rPr>
              <a:t>• Precision: </a:t>
            </a:r>
            <a:r>
              <a:rPr sz="1250" b="0" i="0">
                <a:solidFill>
                  <a:srgbClr val="475569"/>
                </a:solidFill>
                <a:latin typeface="Calibri"/>
              </a:rPr>
              <a:t>Natively represented as 16-bit unsigned integers (uint16, range 0–65,535).</a:t>
            </a:r>
          </a:p>
        </p:txBody>
      </p:sp>
      <p:sp>
        <p:nvSpPr>
          <p:cNvPr id="8" name="Rectangle 7"/>
          <p:cNvSpPr/>
          <p:nvPr/>
        </p:nvSpPr>
        <p:spPr>
          <a:xfrm>
            <a:off x="731520" y="1417320"/>
            <a:ext cx="54864" cy="4800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Baseline Machine Learning Anomaly Detection</a:t>
            </a:r>
          </a:p>
          <a:p>
            <a:pPr>
              <a:spcBef>
                <a:spcPts val="800"/>
              </a:spcBef>
            </a:pPr>
            <a:r>
              <a:rPr sz="1250" b="1" i="0">
                <a:solidFill>
                  <a:srgbClr val="0F294A"/>
                </a:solidFill>
                <a:latin typeface="Arial"/>
              </a:rPr>
              <a:t>Model Configuration:
</a:t>
            </a:r>
            <a:r>
              <a:rPr sz="1200" b="0" i="0">
                <a:solidFill>
                  <a:srgbClr val="475569"/>
                </a:solidFill>
                <a:latin typeface="Calibri"/>
              </a:rPr>
              <a:t>Random Forest Classifier (100 estimators, class_weight='balanced', random_state=42). 80/20 stratified train/test split (24,884 train / 6,222 test samples).</a:t>
            </a:r>
          </a:p>
          <a:p>
            <a:pPr>
              <a:spcBef>
                <a:spcPts val="800"/>
              </a:spcBef>
            </a:pPr>
            <a:r>
              <a:rPr sz="1250" b="1" i="0">
                <a:solidFill>
                  <a:srgbClr val="0F294A"/>
                </a:solidFill>
                <a:latin typeface="Arial"/>
              </a:rPr>
              <a:t>Empirical Baseline Results on Raw Telemetry:
</a:t>
            </a:r>
            <a:r>
              <a:rPr sz="1200" b="0" i="0">
                <a:solidFill>
                  <a:srgbClr val="475569"/>
                </a:solidFill>
                <a:latin typeface="Calibri"/>
              </a:rPr>
              <a:t>• Binary Detection Accuracy: 98.47%
• Weighted F1-Score: 0.9847
• Test Set Misclassifications: Only 16 False Positives and 79 False Negatives out of 6,222 samples.</a:t>
            </a:r>
          </a:p>
          <a:p>
            <a:pPr>
              <a:spcBef>
                <a:spcPts val="800"/>
              </a:spcBef>
            </a:pPr>
            <a:r>
              <a:rPr sz="1250" b="1" i="0">
                <a:solidFill>
                  <a:srgbClr val="0F294A"/>
                </a:solidFill>
                <a:latin typeface="Arial"/>
              </a:rPr>
              <a:t>Key Scientific Takeaway:
</a:t>
            </a:r>
            <a:r>
              <a:rPr sz="1200" b="0" i="0">
                <a:solidFill>
                  <a:srgbClr val="475569"/>
                </a:solidFill>
                <a:latin typeface="Calibri"/>
              </a:rPr>
              <a:t>Unperturbed Modbus registers exhibit an exploitable, highly discriminative structure. Attackers intercepting raw streams can easily identify system operations with 98.5% confidence. This directly confirms the critical need for in-transit obfuscation.</a:t>
            </a:r>
          </a:p>
        </p:txBody>
      </p:sp>
      <p:sp>
        <p:nvSpPr>
          <p:cNvPr id="10" name="Rectangle 9"/>
          <p:cNvSpPr/>
          <p:nvPr/>
        </p:nvSpPr>
        <p:spPr>
          <a:xfrm>
            <a:off x="6248095" y="1417320"/>
            <a:ext cx="54864" cy="48006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SECURITY EVALUATION</a:t>
            </a:r>
          </a:p>
          <a:p>
            <a:pPr>
              <a:spcBef>
                <a:spcPts val="200"/>
              </a:spcBef>
              <a:defRPr sz="2200" b="1">
                <a:solidFill>
                  <a:srgbClr val="1E3A8A"/>
                </a:solidFill>
                <a:latin typeface="Arial"/>
              </a:defRPr>
            </a:pPr>
            <a:r>
              <a:t>Dual Threat Modeling: Static vs. Adaptive Adversary</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7 of 13</a:t>
            </a:r>
          </a:p>
        </p:txBody>
      </p:sp>
      <p:sp>
        <p:nvSpPr>
          <p:cNvPr id="7" name="Rectangle 6"/>
          <p:cNvSpPr/>
          <p:nvPr/>
        </p:nvSpPr>
        <p:spPr>
          <a:xfrm>
            <a:off x="731520" y="1417320"/>
            <a:ext cx="5212080" cy="38404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500" b="1">
                <a:solidFill>
                  <a:srgbClr val="1E3A8A"/>
                </a:solidFill>
                <a:latin typeface="Arial"/>
              </a:defRPr>
            </a:pPr>
            <a:r>
              <a:t>Threat Model 1: Static Adversary (Distribution Shift)</a:t>
            </a:r>
          </a:p>
          <a:p>
            <a:pPr>
              <a:spcBef>
                <a:spcPts val="600"/>
              </a:spcBef>
            </a:pPr>
            <a:r>
              <a:rPr sz="1250" b="1" i="0">
                <a:solidFill>
                  <a:srgbClr val="1E293B"/>
                </a:solidFill>
                <a:latin typeface="Calibri"/>
              </a:rPr>
              <a:t>• Attacker Profile: </a:t>
            </a:r>
            <a:r>
              <a:rPr sz="1250" b="0" i="0">
                <a:solidFill>
                  <a:srgbClr val="475569"/>
                </a:solidFill>
                <a:latin typeface="Calibri"/>
              </a:rPr>
              <a:t>Deploys a pre-trained intrusion detection model trained on clean historical telemetry.</a:t>
            </a:r>
          </a:p>
          <a:p>
            <a:pPr>
              <a:spcBef>
                <a:spcPts val="600"/>
              </a:spcBef>
            </a:pPr>
            <a:r>
              <a:rPr sz="1250" b="1" i="0">
                <a:solidFill>
                  <a:srgbClr val="1E293B"/>
                </a:solidFill>
                <a:latin typeface="Calibri"/>
              </a:rPr>
              <a:t>• Operational Mode: </a:t>
            </a:r>
            <a:r>
              <a:rPr sz="1250" b="0" i="0">
                <a:solidFill>
                  <a:srgbClr val="475569"/>
                </a:solidFill>
                <a:latin typeface="Calibri"/>
              </a:rPr>
              <a:t>Intercepts perturbed telemetry in-flight and evaluates it directly without retraining.</a:t>
            </a:r>
          </a:p>
          <a:p>
            <a:pPr>
              <a:spcBef>
                <a:spcPts val="600"/>
              </a:spcBef>
            </a:pPr>
            <a:r>
              <a:rPr sz="1250" b="1" i="0">
                <a:solidFill>
                  <a:srgbClr val="1E293B"/>
                </a:solidFill>
                <a:latin typeface="Calibri"/>
              </a:rPr>
              <a:t>• Detection Outcome: </a:t>
            </a:r>
            <a:r>
              <a:rPr sz="1250" b="0" i="0">
                <a:solidFill>
                  <a:srgbClr val="475569"/>
                </a:solidFill>
                <a:latin typeface="Calibri"/>
              </a:rPr>
              <a:t>Classification accuracy plummets from 98.47% down to 48.8%.</a:t>
            </a:r>
          </a:p>
          <a:p>
            <a:pPr>
              <a:spcBef>
                <a:spcPts val="600"/>
              </a:spcBef>
            </a:pPr>
            <a:r>
              <a:rPr sz="1250" b="1" i="0">
                <a:solidFill>
                  <a:srgbClr val="1E293B"/>
                </a:solidFill>
                <a:latin typeface="Calibri"/>
              </a:rPr>
              <a:t>• Skeptical Counter-Argument: </a:t>
            </a:r>
            <a:r>
              <a:rPr sz="1250" b="0" i="0">
                <a:solidFill>
                  <a:srgbClr val="475569"/>
                </a:solidFill>
                <a:latin typeface="Calibri"/>
              </a:rPr>
              <a:t>Is this accuracy collapse simply an out-of-distribution (covariate shift) artifact?</a:t>
            </a:r>
          </a:p>
        </p:txBody>
      </p:sp>
      <p:sp>
        <p:nvSpPr>
          <p:cNvPr id="8" name="Rectangle 7"/>
          <p:cNvSpPr/>
          <p:nvPr/>
        </p:nvSpPr>
        <p:spPr>
          <a:xfrm>
            <a:off x="731520" y="1417320"/>
            <a:ext cx="54864" cy="384048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417320"/>
            <a:ext cx="5212080" cy="38404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500" b="1">
                <a:solidFill>
                  <a:srgbClr val="BE123C"/>
                </a:solidFill>
                <a:latin typeface="Arial"/>
              </a:defRPr>
            </a:pPr>
            <a:r>
              <a:t>Threat Model 2: Adaptive Adversary (Active Retraining)</a:t>
            </a:r>
          </a:p>
          <a:p>
            <a:pPr>
              <a:spcBef>
                <a:spcPts val="600"/>
              </a:spcBef>
            </a:pPr>
            <a:r>
              <a:rPr sz="1250" b="1" i="0">
                <a:solidFill>
                  <a:srgbClr val="1E293B"/>
                </a:solidFill>
                <a:latin typeface="Calibri"/>
              </a:rPr>
              <a:t>• Attacker Profile: </a:t>
            </a:r>
            <a:r>
              <a:rPr sz="1250" b="0" i="0">
                <a:solidFill>
                  <a:srgbClr val="475569"/>
                </a:solidFill>
                <a:latin typeface="Calibri"/>
              </a:rPr>
              <a:t>Strong adversary with access to intercepted perturbed traffic AND ground-truth labels.</a:t>
            </a:r>
          </a:p>
          <a:p>
            <a:pPr>
              <a:spcBef>
                <a:spcPts val="600"/>
              </a:spcBef>
            </a:pPr>
            <a:r>
              <a:rPr sz="1250" b="1" i="0">
                <a:solidFill>
                  <a:srgbClr val="1E293B"/>
                </a:solidFill>
                <a:latin typeface="Calibri"/>
              </a:rPr>
              <a:t>• Operational Mode: </a:t>
            </a:r>
            <a:r>
              <a:rPr sz="1250" b="0" i="0">
                <a:solidFill>
                  <a:srgbClr val="475569"/>
                </a:solidFill>
                <a:latin typeface="Calibri"/>
              </a:rPr>
              <a:t>Trains a fresh Random Forest classifier directly on the perturbed feature space (80% training split).</a:t>
            </a:r>
          </a:p>
          <a:p>
            <a:pPr>
              <a:spcBef>
                <a:spcPts val="600"/>
              </a:spcBef>
            </a:pPr>
            <a:r>
              <a:rPr sz="1250" b="1" i="0">
                <a:solidFill>
                  <a:srgbClr val="1E293B"/>
                </a:solidFill>
                <a:latin typeface="Calibri"/>
              </a:rPr>
              <a:t>• Detection Outcome: </a:t>
            </a:r>
            <a:r>
              <a:rPr sz="1250" b="0" i="0">
                <a:solidFill>
                  <a:srgbClr val="475569"/>
                </a:solidFill>
                <a:latin typeface="Calibri"/>
              </a:rPr>
              <a:t>Accuracy remains completely suppressed at 49.9% (pure coin-toss guessing)!</a:t>
            </a:r>
          </a:p>
          <a:p>
            <a:pPr>
              <a:spcBef>
                <a:spcPts val="600"/>
              </a:spcBef>
            </a:pPr>
            <a:r>
              <a:rPr sz="1250" b="1" i="0">
                <a:solidFill>
                  <a:srgbClr val="1E293B"/>
                </a:solidFill>
                <a:latin typeface="Calibri"/>
              </a:rPr>
              <a:t>• Theoretical Meaning: </a:t>
            </a:r>
            <a:r>
              <a:rPr sz="1250" b="0" i="0">
                <a:solidFill>
                  <a:srgbClr val="475569"/>
                </a:solidFill>
                <a:latin typeface="Calibri"/>
              </a:rPr>
              <a:t>Zero mutual information advantage over random chance (50% privacy ceiling).</a:t>
            </a:r>
          </a:p>
        </p:txBody>
      </p:sp>
      <p:sp>
        <p:nvSpPr>
          <p:cNvPr id="10" name="Rectangle 9"/>
          <p:cNvSpPr/>
          <p:nvPr/>
        </p:nvSpPr>
        <p:spPr>
          <a:xfrm>
            <a:off x="6248095" y="1417320"/>
            <a:ext cx="54864" cy="3840480"/>
          </a:xfrm>
          <a:prstGeom prst="rect">
            <a:avLst/>
          </a:prstGeom>
          <a:solidFill>
            <a:srgbClr val="BE123C"/>
          </a:solidFill>
          <a:ln>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394960"/>
            <a:ext cx="10728655" cy="868680"/>
          </a:xfrm>
          <a:prstGeom prst="rect">
            <a:avLst/>
          </a:prstGeom>
          <a:solidFill>
            <a:srgbClr val="F0F7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r>
              <a:rPr sz="1300" b="1" i="0">
                <a:solidFill>
                  <a:srgbClr val="1E3A8A"/>
                </a:solidFill>
                <a:latin typeface="Arial"/>
              </a:rPr>
              <a:t>Key Academic Finding: </a:t>
            </a:r>
            <a:r>
              <a:rPr sz="1250" b="0" i="0">
                <a:solidFill>
                  <a:srgbClr val="1E293B"/>
                </a:solidFill>
                <a:latin typeface="Calibri"/>
              </a:rPr>
              <a:t>Because direct retraining on perturbed data fails to exceed 50% accuracy, we prove that the defense is NOT just a covariate shift artifact. L-RAPID fundamentally eliminates the discriminative correlation between features and attack labels.</a:t>
            </a:r>
          </a:p>
        </p:txBody>
      </p:sp>
      <p:sp>
        <p:nvSpPr>
          <p:cNvPr id="12" name="Rectangle 11"/>
          <p:cNvSpPr/>
          <p:nvPr/>
        </p:nvSpPr>
        <p:spPr>
          <a:xfrm>
            <a:off x="731520" y="5394960"/>
            <a:ext cx="54864" cy="86868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SECURITY EVALUATION</a:t>
            </a:r>
          </a:p>
          <a:p>
            <a:pPr>
              <a:spcBef>
                <a:spcPts val="200"/>
              </a:spcBef>
              <a:defRPr sz="2200" b="1">
                <a:solidFill>
                  <a:srgbClr val="1E3A8A"/>
                </a:solidFill>
                <a:latin typeface="Arial"/>
              </a:defRPr>
            </a:pPr>
            <a:r>
              <a:t>Empirical Validation: Triad Confusion Matrix Analysis</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8 of 13</a:t>
            </a:r>
          </a:p>
        </p:txBody>
      </p:sp>
      <p:pic>
        <p:nvPicPr>
          <p:cNvPr id="7" name="Picture 6" descr="confusion_matrices_triad.png"/>
          <p:cNvPicPr>
            <a:picLocks noChangeAspect="1"/>
          </p:cNvPicPr>
          <p:nvPr/>
        </p:nvPicPr>
        <p:blipFill>
          <a:blip r:embed="rId2"/>
          <a:stretch>
            <a:fillRect/>
          </a:stretch>
        </p:blipFill>
        <p:spPr>
          <a:xfrm>
            <a:off x="731520" y="1371600"/>
            <a:ext cx="10728655" cy="4114800"/>
          </a:xfrm>
          <a:prstGeom prst="rect">
            <a:avLst/>
          </a:prstGeom>
        </p:spPr>
      </p:pic>
      <p:sp>
        <p:nvSpPr>
          <p:cNvPr id="8" name="Rectangle 7"/>
          <p:cNvSpPr/>
          <p:nvPr/>
        </p:nvSpPr>
        <p:spPr>
          <a:xfrm>
            <a:off x="731520" y="5577840"/>
            <a:ext cx="10728655" cy="6858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109728"/>
          <a:lstStyle/>
          <a:p>
            <a:pPr algn="ctr">
              <a:defRPr sz="1150">
                <a:solidFill>
                  <a:srgbClr val="475569"/>
                </a:solidFill>
                <a:latin typeface="Calibri"/>
              </a:defRPr>
            </a:pPr>
            <a:r>
              <a:t>Figure 1: Triad Confusion Matrix Evaluation — (Left) Clean Baseline 98.47% utility, (Center) Adaptive Adversary collapsed to ~50% random guessing floor, (Right) Cloud Restoration recovering 100% exact baseline detection fidelity.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BENCHMARK RESULTS</a:t>
            </a:r>
          </a:p>
          <a:p>
            <a:pPr>
              <a:spcBef>
                <a:spcPts val="200"/>
              </a:spcBef>
              <a:defRPr sz="2200" b="1">
                <a:solidFill>
                  <a:srgbClr val="1E3A8A"/>
                </a:solidFill>
                <a:latin typeface="Arial"/>
              </a:defRPr>
            </a:pPr>
            <a:r>
              <a:t>Computational Latency Benchmark: Sub-Microsecond Speed</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9 of 13</a:t>
            </a:r>
          </a:p>
        </p:txBody>
      </p:sp>
      <p:graphicFrame>
        <p:nvGraphicFramePr>
          <p:cNvPr id="7" name="Table 6"/>
          <p:cNvGraphicFramePr>
            <a:graphicFrameLocks noGrp="1"/>
          </p:cNvGraphicFramePr>
          <p:nvPr/>
        </p:nvGraphicFramePr>
        <p:xfrm>
          <a:off x="731520" y="1417320"/>
          <a:ext cx="10728655" cy="33832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422910">
                <a:tc>
                  <a:txBody>
                    <a:bodyPr/>
                    <a:lstStyle/>
                    <a:p>
                      <a:pPr>
                        <a:defRPr sz="1100" b="1">
                          <a:solidFill>
                            <a:srgbClr val="FFFFFF"/>
                          </a:solidFill>
                          <a:latin typeface="Arial"/>
                        </a:defRPr>
                      </a:pPr>
                      <a:r>
                        <a:t>Perturbation Scheme</a:t>
                      </a:r>
                    </a:p>
                  </a:txBody>
                  <a:tcPr>
                    <a:solidFill>
                      <a:srgbClr val="1E3A8A"/>
                    </a:solidFill>
                  </a:tcPr>
                </a:tc>
                <a:tc>
                  <a:txBody>
                    <a:bodyPr/>
                    <a:lstStyle/>
                    <a:p>
                      <a:pPr>
                        <a:defRPr sz="1100" b="1">
                          <a:solidFill>
                            <a:srgbClr val="FFFFFF"/>
                          </a:solidFill>
                          <a:latin typeface="Arial"/>
                        </a:defRPr>
                      </a:pPr>
                      <a:r>
                        <a:t>Exact Reversibility</a:t>
                      </a:r>
                    </a:p>
                  </a:txBody>
                  <a:tcPr>
                    <a:solidFill>
                      <a:srgbClr val="1E3A8A"/>
                    </a:solidFill>
                  </a:tcPr>
                </a:tc>
                <a:tc>
                  <a:txBody>
                    <a:bodyPr/>
                    <a:lstStyle/>
                    <a:p>
                      <a:pPr>
                        <a:defRPr sz="1100" b="1">
                          <a:solidFill>
                            <a:srgbClr val="FFFFFF"/>
                          </a:solidFill>
                          <a:latin typeface="Arial"/>
                        </a:defRPr>
                      </a:pPr>
                      <a:r>
                        <a:t>Static Adv. Acc.</a:t>
                      </a:r>
                    </a:p>
                  </a:txBody>
                  <a:tcPr>
                    <a:solidFill>
                      <a:srgbClr val="1E3A8A"/>
                    </a:solidFill>
                  </a:tcPr>
                </a:tc>
                <a:tc>
                  <a:txBody>
                    <a:bodyPr/>
                    <a:lstStyle/>
                    <a:p>
                      <a:pPr>
                        <a:defRPr sz="1100" b="1">
                          <a:solidFill>
                            <a:srgbClr val="FFFFFF"/>
                          </a:solidFill>
                          <a:latin typeface="Arial"/>
                        </a:defRPr>
                      </a:pPr>
                      <a:r>
                        <a:t>Adaptive Adv. Acc.</a:t>
                      </a:r>
                    </a:p>
                  </a:txBody>
                  <a:tcPr>
                    <a:solidFill>
                      <a:srgbClr val="1E3A8A"/>
                    </a:solidFill>
                  </a:tcPr>
                </a:tc>
                <a:tc>
                  <a:txBody>
                    <a:bodyPr/>
                    <a:lstStyle/>
                    <a:p>
                      <a:pPr>
                        <a:defRPr sz="1100" b="1">
                          <a:solidFill>
                            <a:srgbClr val="FFFFFF"/>
                          </a:solidFill>
                          <a:latin typeface="Arial"/>
                        </a:defRPr>
                      </a:pPr>
                      <a:r>
                        <a:t>Per-Packet Latency</a:t>
                      </a:r>
                    </a:p>
                  </a:txBody>
                  <a:tcPr>
                    <a:solidFill>
                      <a:srgbClr val="1E3A8A"/>
                    </a:solidFill>
                  </a:tcPr>
                </a:tc>
                <a:tc>
                  <a:txBody>
                    <a:bodyPr/>
                    <a:lstStyle/>
                    <a:p>
                      <a:pPr>
                        <a:defRPr sz="1100" b="1">
                          <a:solidFill>
                            <a:srgbClr val="FFFFFF"/>
                          </a:solidFill>
                          <a:latin typeface="Arial"/>
                        </a:defRPr>
                      </a:pPr>
                      <a:r>
                        <a:t>Speedup vs. AES-CBC</a:t>
                      </a:r>
                    </a:p>
                  </a:txBody>
                  <a:tcPr>
                    <a:solidFill>
                      <a:srgbClr val="1E3A8A"/>
                    </a:solidFill>
                  </a:tcPr>
                </a:tc>
              </a:tr>
              <a:tr h="422910">
                <a:tc>
                  <a:txBody>
                    <a:bodyPr/>
                    <a:lstStyle/>
                    <a:p>
                      <a:pPr>
                        <a:defRPr sz="1100" b="0">
                          <a:solidFill>
                            <a:srgbClr val="1E293B"/>
                          </a:solidFill>
                          <a:latin typeface="Calibri"/>
                        </a:defRPr>
                      </a:pPr>
                      <a:r>
                        <a:t>Original Raw Baseline</a:t>
                      </a:r>
                    </a:p>
                  </a:txBody>
                  <a:tcPr>
                    <a:solidFill>
                      <a:srgbClr val="FFFFFF"/>
                    </a:solidFill>
                  </a:tcPr>
                </a:tc>
                <a:tc>
                  <a:txBody>
                    <a:bodyPr/>
                    <a:lstStyle/>
                    <a:p>
                      <a:pPr>
                        <a:defRPr sz="1100" b="0">
                          <a:solidFill>
                            <a:srgbClr val="1E293B"/>
                          </a:solidFill>
                          <a:latin typeface="Calibri"/>
                        </a:defRPr>
                      </a:pPr>
                      <a:r>
                        <a:t>—</a:t>
                      </a:r>
                    </a:p>
                  </a:txBody>
                  <a:tcPr>
                    <a:solidFill>
                      <a:srgbClr val="FFFFFF"/>
                    </a:solidFill>
                  </a:tcPr>
                </a:tc>
                <a:tc>
                  <a:txBody>
                    <a:bodyPr/>
                    <a:lstStyle/>
                    <a:p>
                      <a:pPr>
                        <a:defRPr sz="1100" b="0">
                          <a:solidFill>
                            <a:srgbClr val="1E293B"/>
                          </a:solidFill>
                          <a:latin typeface="Calibri"/>
                        </a:defRPr>
                      </a:pPr>
                      <a:r>
                        <a:t>98.47%</a:t>
                      </a:r>
                    </a:p>
                  </a:txBody>
                  <a:tcPr>
                    <a:solidFill>
                      <a:srgbClr val="FFFFFF"/>
                    </a:solidFill>
                  </a:tcPr>
                </a:tc>
                <a:tc>
                  <a:txBody>
                    <a:bodyPr/>
                    <a:lstStyle/>
                    <a:p>
                      <a:pPr>
                        <a:defRPr sz="1100" b="0">
                          <a:solidFill>
                            <a:srgbClr val="1E293B"/>
                          </a:solidFill>
                          <a:latin typeface="Calibri"/>
                        </a:defRPr>
                      </a:pPr>
                      <a:r>
                        <a:t>98.47%</a:t>
                      </a:r>
                    </a:p>
                  </a:txBody>
                  <a:tcPr>
                    <a:solidFill>
                      <a:srgbClr val="FFFFFF"/>
                    </a:solidFill>
                  </a:tcPr>
                </a:tc>
                <a:tc>
                  <a:txBody>
                    <a:bodyPr/>
                    <a:lstStyle/>
                    <a:p>
                      <a:pPr>
                        <a:defRPr sz="1100" b="0">
                          <a:solidFill>
                            <a:srgbClr val="1E293B"/>
                          </a:solidFill>
                          <a:latin typeface="Calibri"/>
                        </a:defRPr>
                      </a:pPr>
                      <a:r>
                        <a:t>—</a:t>
                      </a:r>
                    </a:p>
                  </a:txBody>
                  <a:tcPr>
                    <a:solidFill>
                      <a:srgbClr val="FFFFFF"/>
                    </a:solidFill>
                  </a:tcPr>
                </a:tc>
                <a:tc>
                  <a:txBody>
                    <a:bodyPr/>
                    <a:lstStyle/>
                    <a:p>
                      <a:pPr>
                        <a:defRPr sz="1100" b="0">
                          <a:solidFill>
                            <a:srgbClr val="1E293B"/>
                          </a:solidFill>
                          <a:latin typeface="Calibri"/>
                        </a:defRPr>
                      </a:pPr>
                      <a:r>
                        <a:t>—</a:t>
                      </a:r>
                    </a:p>
                  </a:txBody>
                  <a:tcPr>
                    <a:solidFill>
                      <a:srgbClr val="FFFFFF"/>
                    </a:solidFill>
                  </a:tcPr>
                </a:tc>
              </a:tr>
              <a:tr h="422910">
                <a:tc>
                  <a:txBody>
                    <a:bodyPr/>
                    <a:lstStyle/>
                    <a:p>
                      <a:pPr>
                        <a:defRPr sz="1100" b="0">
                          <a:solidFill>
                            <a:srgbClr val="1E293B"/>
                          </a:solidFill>
                          <a:latin typeface="Calibri"/>
                        </a:defRPr>
                      </a:pPr>
                      <a:r>
                        <a:t>Gaussian Noise (sigma=0.5)</a:t>
                      </a:r>
                    </a:p>
                  </a:txBody>
                  <a:tcPr>
                    <a:solidFill>
                      <a:srgbClr val="F8FAFC"/>
                    </a:solidFill>
                  </a:tcPr>
                </a:tc>
                <a:tc>
                  <a:txBody>
                    <a:bodyPr/>
                    <a:lstStyle/>
                    <a:p>
                      <a:pPr>
                        <a:defRPr sz="1100" b="0">
                          <a:solidFill>
                            <a:srgbClr val="1E293B"/>
                          </a:solidFill>
                          <a:latin typeface="Calibri"/>
                        </a:defRPr>
                      </a:pPr>
                      <a:r>
                        <a:t>100.0%</a:t>
                      </a:r>
                    </a:p>
                  </a:txBody>
                  <a:tcPr>
                    <a:solidFill>
                      <a:srgbClr val="F8FAFC"/>
                    </a:solidFill>
                  </a:tcPr>
                </a:tc>
                <a:tc>
                  <a:txBody>
                    <a:bodyPr/>
                    <a:lstStyle/>
                    <a:p>
                      <a:pPr>
                        <a:defRPr sz="1100" b="0">
                          <a:solidFill>
                            <a:srgbClr val="1E293B"/>
                          </a:solidFill>
                          <a:latin typeface="Calibri"/>
                        </a:defRPr>
                      </a:pPr>
                      <a:r>
                        <a:t>51.4%</a:t>
                      </a:r>
                    </a:p>
                  </a:txBody>
                  <a:tcPr>
                    <a:solidFill>
                      <a:srgbClr val="F8FAFC"/>
                    </a:solidFill>
                  </a:tcPr>
                </a:tc>
                <a:tc>
                  <a:txBody>
                    <a:bodyPr/>
                    <a:lstStyle/>
                    <a:p>
                      <a:pPr>
                        <a:defRPr sz="1100" b="0">
                          <a:solidFill>
                            <a:srgbClr val="1E293B"/>
                          </a:solidFill>
                          <a:latin typeface="Calibri"/>
                        </a:defRPr>
                      </a:pPr>
                      <a:r>
                        <a:t>50.8%</a:t>
                      </a:r>
                    </a:p>
                  </a:txBody>
                  <a:tcPr>
                    <a:solidFill>
                      <a:srgbClr val="F8FAFC"/>
                    </a:solidFill>
                  </a:tcPr>
                </a:tc>
                <a:tc>
                  <a:txBody>
                    <a:bodyPr/>
                    <a:lstStyle/>
                    <a:p>
                      <a:pPr>
                        <a:defRPr sz="1100" b="0">
                          <a:solidFill>
                            <a:srgbClr val="1E293B"/>
                          </a:solidFill>
                          <a:latin typeface="Calibri"/>
                        </a:defRPr>
                      </a:pPr>
                      <a:r>
                        <a:t>1.82 µs</a:t>
                      </a:r>
                    </a:p>
                  </a:txBody>
                  <a:tcPr>
                    <a:solidFill>
                      <a:srgbClr val="F8FAFC"/>
                    </a:solidFill>
                  </a:tcPr>
                </a:tc>
                <a:tc>
                  <a:txBody>
                    <a:bodyPr/>
                    <a:lstStyle/>
                    <a:p>
                      <a:pPr>
                        <a:defRPr sz="1100" b="0">
                          <a:solidFill>
                            <a:srgbClr val="1E293B"/>
                          </a:solidFill>
                          <a:latin typeface="Calibri"/>
                        </a:defRPr>
                      </a:pPr>
                      <a:r>
                        <a:t>5.8× faster</a:t>
                      </a:r>
                    </a:p>
                  </a:txBody>
                  <a:tcPr>
                    <a:solidFill>
                      <a:srgbClr val="F8FAFC"/>
                    </a:solidFill>
                  </a:tcPr>
                </a:tc>
              </a:tr>
              <a:tr h="422910">
                <a:tc>
                  <a:txBody>
                    <a:bodyPr/>
                    <a:lstStyle/>
                    <a:p>
                      <a:pPr>
                        <a:defRPr sz="1100" b="0">
                          <a:solidFill>
                            <a:srgbClr val="1E293B"/>
                          </a:solidFill>
                          <a:latin typeface="Calibri"/>
                        </a:defRPr>
                      </a:pPr>
                      <a:r>
                        <a:t>Laplacian Noise (b=0.5)</a:t>
                      </a:r>
                    </a:p>
                  </a:txBody>
                  <a:tcPr>
                    <a:solidFill>
                      <a:srgbClr val="FFFFFF"/>
                    </a:solidFill>
                  </a:tcPr>
                </a:tc>
                <a:tc>
                  <a:txBody>
                    <a:bodyPr/>
                    <a:lstStyle/>
                    <a:p>
                      <a:pPr>
                        <a:defRPr sz="1100" b="0">
                          <a:solidFill>
                            <a:srgbClr val="1E293B"/>
                          </a:solidFill>
                          <a:latin typeface="Calibri"/>
                        </a:defRPr>
                      </a:pPr>
                      <a:r>
                        <a:t>100.0%</a:t>
                      </a:r>
                    </a:p>
                  </a:txBody>
                  <a:tcPr>
                    <a:solidFill>
                      <a:srgbClr val="FFFFFF"/>
                    </a:solidFill>
                  </a:tcPr>
                </a:tc>
                <a:tc>
                  <a:txBody>
                    <a:bodyPr/>
                    <a:lstStyle/>
                    <a:p>
                      <a:pPr>
                        <a:defRPr sz="1100" b="0">
                          <a:solidFill>
                            <a:srgbClr val="1E293B"/>
                          </a:solidFill>
                          <a:latin typeface="Calibri"/>
                        </a:defRPr>
                      </a:pPr>
                      <a:r>
                        <a:t>48.2%</a:t>
                      </a:r>
                    </a:p>
                  </a:txBody>
                  <a:tcPr>
                    <a:solidFill>
                      <a:srgbClr val="FFFFFF"/>
                    </a:solidFill>
                  </a:tcPr>
                </a:tc>
                <a:tc>
                  <a:txBody>
                    <a:bodyPr/>
                    <a:lstStyle/>
                    <a:p>
                      <a:pPr>
                        <a:defRPr sz="1100" b="0">
                          <a:solidFill>
                            <a:srgbClr val="1E293B"/>
                          </a:solidFill>
                          <a:latin typeface="Calibri"/>
                        </a:defRPr>
                      </a:pPr>
                      <a:r>
                        <a:t>49.6%</a:t>
                      </a:r>
                    </a:p>
                  </a:txBody>
                  <a:tcPr>
                    <a:solidFill>
                      <a:srgbClr val="FFFFFF"/>
                    </a:solidFill>
                  </a:tcPr>
                </a:tc>
                <a:tc>
                  <a:txBody>
                    <a:bodyPr/>
                    <a:lstStyle/>
                    <a:p>
                      <a:pPr>
                        <a:defRPr sz="1100" b="0">
                          <a:solidFill>
                            <a:srgbClr val="1E293B"/>
                          </a:solidFill>
                          <a:latin typeface="Calibri"/>
                        </a:defRPr>
                      </a:pPr>
                      <a:r>
                        <a:t>2.10 µs</a:t>
                      </a:r>
                    </a:p>
                  </a:txBody>
                  <a:tcPr>
                    <a:solidFill>
                      <a:srgbClr val="FFFFFF"/>
                    </a:solidFill>
                  </a:tcPr>
                </a:tc>
                <a:tc>
                  <a:txBody>
                    <a:bodyPr/>
                    <a:lstStyle/>
                    <a:p>
                      <a:pPr>
                        <a:defRPr sz="1100" b="0">
                          <a:solidFill>
                            <a:srgbClr val="1E293B"/>
                          </a:solidFill>
                          <a:latin typeface="Calibri"/>
                        </a:defRPr>
                      </a:pPr>
                      <a:r>
                        <a:t>5.0× faster</a:t>
                      </a:r>
                    </a:p>
                  </a:txBody>
                  <a:tcPr>
                    <a:solidFill>
                      <a:srgbClr val="FFFFFF"/>
                    </a:solidFill>
                  </a:tcPr>
                </a:tc>
              </a:tr>
              <a:tr h="422910">
                <a:tc>
                  <a:txBody>
                    <a:bodyPr/>
                    <a:lstStyle/>
                    <a:p>
                      <a:pPr>
                        <a:defRPr sz="1100" b="0">
                          <a:solidFill>
                            <a:srgbClr val="1E293B"/>
                          </a:solidFill>
                          <a:latin typeface="Calibri"/>
                        </a:defRPr>
                      </a:pPr>
                      <a:r>
                        <a:t>XOR 16-bit (Register-Level)</a:t>
                      </a:r>
                    </a:p>
                  </a:txBody>
                  <a:tcPr>
                    <a:solidFill>
                      <a:srgbClr val="F8FAFC"/>
                    </a:solidFill>
                  </a:tcPr>
                </a:tc>
                <a:tc>
                  <a:txBody>
                    <a:bodyPr/>
                    <a:lstStyle/>
                    <a:p>
                      <a:pPr>
                        <a:defRPr sz="1100" b="0">
                          <a:solidFill>
                            <a:srgbClr val="1E293B"/>
                          </a:solidFill>
                          <a:latin typeface="Calibri"/>
                        </a:defRPr>
                      </a:pPr>
                      <a:r>
                        <a:t>100.0%</a:t>
                      </a:r>
                    </a:p>
                  </a:txBody>
                  <a:tcPr>
                    <a:solidFill>
                      <a:srgbClr val="F8FAFC"/>
                    </a:solidFill>
                  </a:tcPr>
                </a:tc>
                <a:tc>
                  <a:txBody>
                    <a:bodyPr/>
                    <a:lstStyle/>
                    <a:p>
                      <a:pPr>
                        <a:defRPr sz="1100" b="0">
                          <a:solidFill>
                            <a:srgbClr val="1E293B"/>
                          </a:solidFill>
                          <a:latin typeface="Calibri"/>
                        </a:defRPr>
                      </a:pPr>
                      <a:r>
                        <a:t>49.1%</a:t>
                      </a:r>
                    </a:p>
                  </a:txBody>
                  <a:tcPr>
                    <a:solidFill>
                      <a:srgbClr val="F8FAFC"/>
                    </a:solidFill>
                  </a:tcPr>
                </a:tc>
                <a:tc>
                  <a:txBody>
                    <a:bodyPr/>
                    <a:lstStyle/>
                    <a:p>
                      <a:pPr>
                        <a:defRPr sz="1100" b="0">
                          <a:solidFill>
                            <a:srgbClr val="1E293B"/>
                          </a:solidFill>
                          <a:latin typeface="Calibri"/>
                        </a:defRPr>
                      </a:pPr>
                      <a:r>
                        <a:t>50.2%</a:t>
                      </a:r>
                    </a:p>
                  </a:txBody>
                  <a:tcPr>
                    <a:solidFill>
                      <a:srgbClr val="F8FAFC"/>
                    </a:solidFill>
                  </a:tcPr>
                </a:tc>
                <a:tc>
                  <a:txBody>
                    <a:bodyPr/>
                    <a:lstStyle/>
                    <a:p>
                      <a:pPr>
                        <a:defRPr sz="1100" b="0">
                          <a:solidFill>
                            <a:srgbClr val="1E293B"/>
                          </a:solidFill>
                          <a:latin typeface="Calibri"/>
                        </a:defRPr>
                      </a:pPr>
                      <a:r>
                        <a:t>1.48 µs</a:t>
                      </a:r>
                    </a:p>
                  </a:txBody>
                  <a:tcPr>
                    <a:solidFill>
                      <a:srgbClr val="F8FAFC"/>
                    </a:solidFill>
                  </a:tcPr>
                </a:tc>
                <a:tc>
                  <a:txBody>
                    <a:bodyPr/>
                    <a:lstStyle/>
                    <a:p>
                      <a:pPr>
                        <a:defRPr sz="1100" b="0">
                          <a:solidFill>
                            <a:srgbClr val="1E293B"/>
                          </a:solidFill>
                          <a:latin typeface="Calibri"/>
                        </a:defRPr>
                      </a:pPr>
                      <a:r>
                        <a:t>7.1× faster</a:t>
                      </a:r>
                    </a:p>
                  </a:txBody>
                  <a:tcPr>
                    <a:solidFill>
                      <a:srgbClr val="F8FAFC"/>
                    </a:solidFill>
                  </a:tcPr>
                </a:tc>
              </a:tr>
              <a:tr h="422910">
                <a:tc>
                  <a:txBody>
                    <a:bodyPr/>
                    <a:lstStyle/>
                    <a:p>
                      <a:pPr>
                        <a:defRPr sz="1100" b="1">
                          <a:solidFill>
                            <a:srgbClr val="1E3A8A"/>
                          </a:solidFill>
                          <a:latin typeface="Calibri"/>
                        </a:defRPr>
                      </a:pPr>
                      <a:r>
                        <a:t>XOR 64-bit (Packed Word - Ours)</a:t>
                      </a:r>
                    </a:p>
                  </a:txBody>
                  <a:tcPr>
                    <a:solidFill>
                      <a:srgbClr val="E0F2FE"/>
                    </a:solidFill>
                  </a:tcPr>
                </a:tc>
                <a:tc>
                  <a:txBody>
                    <a:bodyPr/>
                    <a:lstStyle/>
                    <a:p>
                      <a:pPr>
                        <a:defRPr sz="1100" b="1">
                          <a:solidFill>
                            <a:srgbClr val="1E3A8A"/>
                          </a:solidFill>
                          <a:latin typeface="Calibri"/>
                        </a:defRPr>
                      </a:pPr>
                      <a:r>
                        <a:t>100.0%</a:t>
                      </a:r>
                    </a:p>
                  </a:txBody>
                  <a:tcPr>
                    <a:solidFill>
                      <a:srgbClr val="E0F2FE"/>
                    </a:solidFill>
                  </a:tcPr>
                </a:tc>
                <a:tc>
                  <a:txBody>
                    <a:bodyPr/>
                    <a:lstStyle/>
                    <a:p>
                      <a:pPr>
                        <a:defRPr sz="1100" b="1">
                          <a:solidFill>
                            <a:srgbClr val="1E3A8A"/>
                          </a:solidFill>
                          <a:latin typeface="Calibri"/>
                        </a:defRPr>
                      </a:pPr>
                      <a:r>
                        <a:t>48.8%</a:t>
                      </a:r>
                    </a:p>
                  </a:txBody>
                  <a:tcPr>
                    <a:solidFill>
                      <a:srgbClr val="E0F2FE"/>
                    </a:solidFill>
                  </a:tcPr>
                </a:tc>
                <a:tc>
                  <a:txBody>
                    <a:bodyPr/>
                    <a:lstStyle/>
                    <a:p>
                      <a:pPr>
                        <a:defRPr sz="1100" b="1">
                          <a:solidFill>
                            <a:srgbClr val="1E3A8A"/>
                          </a:solidFill>
                          <a:latin typeface="Calibri"/>
                        </a:defRPr>
                      </a:pPr>
                      <a:r>
                        <a:t>49.9%</a:t>
                      </a:r>
                    </a:p>
                  </a:txBody>
                  <a:tcPr>
                    <a:solidFill>
                      <a:srgbClr val="E0F2FE"/>
                    </a:solidFill>
                  </a:tcPr>
                </a:tc>
                <a:tc>
                  <a:txBody>
                    <a:bodyPr/>
                    <a:lstStyle/>
                    <a:p>
                      <a:pPr>
                        <a:defRPr sz="1100" b="1">
                          <a:solidFill>
                            <a:srgbClr val="1E3A8A"/>
                          </a:solidFill>
                          <a:latin typeface="Calibri"/>
                        </a:defRPr>
                      </a:pPr>
                      <a:r>
                        <a:t>0.15 µs</a:t>
                      </a:r>
                    </a:p>
                  </a:txBody>
                  <a:tcPr>
                    <a:solidFill>
                      <a:srgbClr val="E0F2FE"/>
                    </a:solidFill>
                  </a:tcPr>
                </a:tc>
                <a:tc>
                  <a:txBody>
                    <a:bodyPr/>
                    <a:lstStyle/>
                    <a:p>
                      <a:pPr>
                        <a:defRPr sz="1100" b="1">
                          <a:solidFill>
                            <a:srgbClr val="1E3A8A"/>
                          </a:solidFill>
                          <a:latin typeface="Calibri"/>
                        </a:defRPr>
                      </a:pPr>
                      <a:r>
                        <a:t>69.8× faster (~70×)</a:t>
                      </a:r>
                    </a:p>
                  </a:txBody>
                  <a:tcPr>
                    <a:solidFill>
                      <a:srgbClr val="E0F2FE"/>
                    </a:solidFill>
                  </a:tcPr>
                </a:tc>
              </a:tr>
              <a:tr h="422910">
                <a:tc>
                  <a:txBody>
                    <a:bodyPr/>
                    <a:lstStyle/>
                    <a:p>
                      <a:pPr>
                        <a:defRPr sz="1100" b="0">
                          <a:solidFill>
                            <a:srgbClr val="1E293B"/>
                          </a:solidFill>
                          <a:latin typeface="Calibri"/>
                        </a:defRPr>
                      </a:pPr>
                      <a:r>
                        <a:t>ChaCha20 (CSPRNG Stream Cipher)</a:t>
                      </a:r>
                    </a:p>
                  </a:txBody>
                  <a:tcPr>
                    <a:solidFill>
                      <a:srgbClr val="FEF3C7"/>
                    </a:solidFill>
                  </a:tcPr>
                </a:tc>
                <a:tc>
                  <a:txBody>
                    <a:bodyPr/>
                    <a:lstStyle/>
                    <a:p>
                      <a:pPr>
                        <a:defRPr sz="1100" b="0">
                          <a:solidFill>
                            <a:srgbClr val="1E293B"/>
                          </a:solidFill>
                          <a:latin typeface="Calibri"/>
                        </a:defRPr>
                      </a:pPr>
                      <a:r>
                        <a:t>100.0%</a:t>
                      </a:r>
                    </a:p>
                  </a:txBody>
                  <a:tcPr>
                    <a:solidFill>
                      <a:srgbClr val="FEF3C7"/>
                    </a:solidFill>
                  </a:tcPr>
                </a:tc>
                <a:tc>
                  <a:txBody>
                    <a:bodyPr/>
                    <a:lstStyle/>
                    <a:p>
                      <a:pPr>
                        <a:defRPr sz="1100" b="0">
                          <a:solidFill>
                            <a:srgbClr val="1E293B"/>
                          </a:solidFill>
                          <a:latin typeface="Calibri"/>
                        </a:defRPr>
                      </a:pPr>
                      <a:r>
                        <a:t>49.9%</a:t>
                      </a:r>
                    </a:p>
                  </a:txBody>
                  <a:tcPr>
                    <a:solidFill>
                      <a:srgbClr val="FEF3C7"/>
                    </a:solidFill>
                  </a:tcPr>
                </a:tc>
                <a:tc>
                  <a:txBody>
                    <a:bodyPr/>
                    <a:lstStyle/>
                    <a:p>
                      <a:pPr>
                        <a:defRPr sz="1100" b="0">
                          <a:solidFill>
                            <a:srgbClr val="1E293B"/>
                          </a:solidFill>
                          <a:latin typeface="Calibri"/>
                        </a:defRPr>
                      </a:pPr>
                      <a:r>
                        <a:t>50.0%</a:t>
                      </a:r>
                    </a:p>
                  </a:txBody>
                  <a:tcPr>
                    <a:solidFill>
                      <a:srgbClr val="FEF3C7"/>
                    </a:solidFill>
                  </a:tcPr>
                </a:tc>
                <a:tc>
                  <a:txBody>
                    <a:bodyPr/>
                    <a:lstStyle/>
                    <a:p>
                      <a:pPr>
                        <a:defRPr sz="1100" b="0">
                          <a:solidFill>
                            <a:srgbClr val="1E293B"/>
                          </a:solidFill>
                          <a:latin typeface="Calibri"/>
                        </a:defRPr>
                      </a:pPr>
                      <a:r>
                        <a:t>7.12 µs</a:t>
                      </a:r>
                    </a:p>
                  </a:txBody>
                  <a:tcPr>
                    <a:solidFill>
                      <a:srgbClr val="FEF3C7"/>
                    </a:solidFill>
                  </a:tcPr>
                </a:tc>
                <a:tc>
                  <a:txBody>
                    <a:bodyPr/>
                    <a:lstStyle/>
                    <a:p>
                      <a:pPr>
                        <a:defRPr sz="1100" b="0">
                          <a:solidFill>
                            <a:srgbClr val="1E293B"/>
                          </a:solidFill>
                          <a:latin typeface="Calibri"/>
                        </a:defRPr>
                      </a:pPr>
                      <a:r>
                        <a:t>1.5× faster (49× slower than XOR-64)</a:t>
                      </a:r>
                    </a:p>
                  </a:txBody>
                  <a:tcPr>
                    <a:solidFill>
                      <a:srgbClr val="FEF3C7"/>
                    </a:solidFill>
                  </a:tcPr>
                </a:tc>
              </a:tr>
              <a:tr h="422910">
                <a:tc>
                  <a:txBody>
                    <a:bodyPr/>
                    <a:lstStyle/>
                    <a:p>
                      <a:pPr>
                        <a:defRPr sz="1100" b="0">
                          <a:solidFill>
                            <a:srgbClr val="1E293B"/>
                          </a:solidFill>
                          <a:latin typeface="Calibri"/>
                        </a:defRPr>
                      </a:pPr>
                      <a:r>
                        <a:t>AES-128-CBC (Standard Block Mode)</a:t>
                      </a:r>
                    </a:p>
                  </a:txBody>
                  <a:tcPr>
                    <a:solidFill>
                      <a:srgbClr val="FFFFFF"/>
                    </a:solidFill>
                  </a:tcPr>
                </a:tc>
                <a:tc>
                  <a:txBody>
                    <a:bodyPr/>
                    <a:lstStyle/>
                    <a:p>
                      <a:pPr>
                        <a:defRPr sz="1100" b="0">
                          <a:solidFill>
                            <a:srgbClr val="1E293B"/>
                          </a:solidFill>
                          <a:latin typeface="Calibri"/>
                        </a:defRPr>
                      </a:pPr>
                      <a:r>
                        <a:t>100.0%</a:t>
                      </a:r>
                    </a:p>
                  </a:txBody>
                  <a:tcPr>
                    <a:solidFill>
                      <a:srgbClr val="FFFFFF"/>
                    </a:solidFill>
                  </a:tcPr>
                </a:tc>
                <a:tc>
                  <a:txBody>
                    <a:bodyPr/>
                    <a:lstStyle/>
                    <a:p>
                      <a:pPr>
                        <a:defRPr sz="1100" b="0">
                          <a:solidFill>
                            <a:srgbClr val="1E293B"/>
                          </a:solidFill>
                          <a:latin typeface="Calibri"/>
                        </a:defRPr>
                      </a:pPr>
                      <a:r>
                        <a:t>50.0%</a:t>
                      </a:r>
                    </a:p>
                  </a:txBody>
                  <a:tcPr>
                    <a:solidFill>
                      <a:srgbClr val="FFFFFF"/>
                    </a:solidFill>
                  </a:tcPr>
                </a:tc>
                <a:tc>
                  <a:txBody>
                    <a:bodyPr/>
                    <a:lstStyle/>
                    <a:p>
                      <a:pPr>
                        <a:defRPr sz="1100" b="0">
                          <a:solidFill>
                            <a:srgbClr val="1E293B"/>
                          </a:solidFill>
                          <a:latin typeface="Calibri"/>
                        </a:defRPr>
                      </a:pPr>
                      <a:r>
                        <a:t>49.7%</a:t>
                      </a:r>
                    </a:p>
                  </a:txBody>
                  <a:tcPr>
                    <a:solidFill>
                      <a:srgbClr val="FFFFFF"/>
                    </a:solidFill>
                  </a:tcPr>
                </a:tc>
                <a:tc>
                  <a:txBody>
                    <a:bodyPr/>
                    <a:lstStyle/>
                    <a:p>
                      <a:pPr>
                        <a:defRPr sz="1100" b="0">
                          <a:solidFill>
                            <a:srgbClr val="1E293B"/>
                          </a:solidFill>
                          <a:latin typeface="Calibri"/>
                        </a:defRPr>
                      </a:pPr>
                      <a:r>
                        <a:t>10.54 µs</a:t>
                      </a:r>
                    </a:p>
                  </a:txBody>
                  <a:tcPr>
                    <a:solidFill>
                      <a:srgbClr val="FFFFFF"/>
                    </a:solidFill>
                  </a:tcPr>
                </a:tc>
                <a:tc>
                  <a:txBody>
                    <a:bodyPr/>
                    <a:lstStyle/>
                    <a:p>
                      <a:pPr>
                        <a:defRPr sz="1100" b="0">
                          <a:solidFill>
                            <a:srgbClr val="1E293B"/>
                          </a:solidFill>
                          <a:latin typeface="Calibri"/>
                        </a:defRPr>
                      </a:pPr>
                      <a:r>
                        <a:t>1.0× (Baseline Reference)</a:t>
                      </a:r>
                    </a:p>
                  </a:txBody>
                  <a:tcPr>
                    <a:solidFill>
                      <a:srgbClr val="FFFFFF"/>
                    </a:solidFill>
                  </a:tcPr>
                </a:tc>
              </a:tr>
            </a:tbl>
          </a:graphicData>
        </a:graphic>
      </p:graphicFrame>
      <p:sp>
        <p:nvSpPr>
          <p:cNvPr id="8" name="Rectangle 7"/>
          <p:cNvSpPr/>
          <p:nvPr/>
        </p:nvSpPr>
        <p:spPr>
          <a:xfrm>
            <a:off x="731520" y="4983480"/>
            <a:ext cx="10728655" cy="12801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300" b="1">
                <a:solidFill>
                  <a:srgbClr val="0F294A"/>
                </a:solidFill>
                <a:latin typeface="Arial"/>
              </a:defRPr>
            </a:pPr>
            <a:r>
              <a:t>Key Benchmark Conclusions:</a:t>
            </a:r>
          </a:p>
          <a:p>
            <a:pPr>
              <a:spcBef>
                <a:spcPts val="200"/>
              </a:spcBef>
              <a:defRPr sz="1150">
                <a:solidFill>
                  <a:srgbClr val="1E293B"/>
                </a:solidFill>
                <a:latin typeface="Calibri"/>
              </a:defRPr>
            </a:pPr>
            <a:r>
              <a:t>1. Sub-Microsecond Speed: Packed 64-bit XOR executes in 0.15 µs per packet, roughly 70× faster than AES-CBC (10.54 µs) and 59× faster than AES-CTR (8.87 µs).</a:t>
            </a:r>
          </a:p>
          <a:p>
            <a:pPr>
              <a:spcBef>
                <a:spcPts val="200"/>
              </a:spcBef>
              <a:defRPr sz="1150">
                <a:solidFill>
                  <a:srgbClr val="1E293B"/>
                </a:solidFill>
                <a:latin typeface="Calibri"/>
              </a:defRPr>
            </a:pPr>
            <a:r>
              <a:t>2. Exact Mathematical Restoration: 100.0% exact match reconstruction across all 31,106 samples with zero numerical distortion.</a:t>
            </a:r>
          </a:p>
          <a:p>
            <a:pPr>
              <a:spcBef>
                <a:spcPts val="200"/>
              </a:spcBef>
              <a:defRPr sz="1150">
                <a:solidFill>
                  <a:srgbClr val="1E293B"/>
                </a:solidFill>
                <a:latin typeface="Calibri"/>
              </a:defRPr>
            </a:pPr>
            <a:r>
              <a:t>3. Role of ChaCha20: Measured at 7.12 µs—faster than software AES, but ~49× slower than packed XOR. Serves as our production dynamic key derivation engine.</a:t>
            </a:r>
          </a:p>
        </p:txBody>
      </p:sp>
      <p:sp>
        <p:nvSpPr>
          <p:cNvPr id="9" name="Rectangle 8"/>
          <p:cNvSpPr/>
          <p:nvPr/>
        </p:nvSpPr>
        <p:spPr>
          <a:xfrm>
            <a:off x="731520" y="4983480"/>
            <a:ext cx="54864" cy="12801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BIT-DEPTH ANALYSIS</a:t>
            </a:r>
          </a:p>
          <a:p>
            <a:pPr>
              <a:spcBef>
                <a:spcPts val="200"/>
              </a:spcBef>
              <a:defRPr sz="2200" b="1">
                <a:solidFill>
                  <a:srgbClr val="1E3A8A"/>
                </a:solidFill>
                <a:latin typeface="Arial"/>
              </a:defRPr>
            </a:pPr>
            <a:r>
              <a:t>Parametric K-Bit Sweep: Tuning Perturbation Intensity</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10 of 13</a:t>
            </a:r>
          </a:p>
        </p:txBody>
      </p:sp>
      <p:sp>
        <p:nvSpPr>
          <p:cNvPr id="7" name="Rectangle 6"/>
          <p:cNvSpPr/>
          <p:nvPr/>
        </p:nvSpPr>
        <p:spPr>
          <a:xfrm>
            <a:off x="731520" y="1417320"/>
            <a:ext cx="512064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How Many Bits Must We Scramble?</a:t>
            </a:r>
          </a:p>
          <a:p>
            <a:pPr>
              <a:spcBef>
                <a:spcPts val="800"/>
              </a:spcBef>
            </a:pPr>
            <a:r>
              <a:rPr sz="1250" b="1" i="0">
                <a:solidFill>
                  <a:srgbClr val="0F294A"/>
                </a:solidFill>
                <a:latin typeface="Arial"/>
              </a:rPr>
              <a:t>The Engineering Question:
</a:t>
            </a:r>
            <a:r>
              <a:rPr sz="1200" b="0" i="0">
                <a:solidFill>
                  <a:srgbClr val="475569"/>
                </a:solidFill>
                <a:latin typeface="Calibri"/>
              </a:rPr>
              <a:t>Each Modbus register is 16 bits. Can an edge device save energy by scrambling fewer bits, or is full 16-bit scrambling required?</a:t>
            </a:r>
          </a:p>
          <a:p>
            <a:pPr>
              <a:spcBef>
                <a:spcPts val="800"/>
              </a:spcBef>
            </a:pPr>
            <a:r>
              <a:rPr sz="1250" b="1" i="0">
                <a:solidFill>
                  <a:srgbClr val="0F294A"/>
                </a:solidFill>
                <a:latin typeface="Arial"/>
              </a:rPr>
              <a:t>Sweep across K in {1, 2, 3, 4, 6, 8, 10, 12, 14, 16}:
</a:t>
            </a:r>
            <a:r>
              <a:rPr sz="1200" b="0" i="0">
                <a:solidFill>
                  <a:srgbClr val="475569"/>
                </a:solidFill>
                <a:latin typeface="Calibri"/>
              </a:rPr>
              <a:t>• K = 1 to 8 bits: Upper register bits remain unperturbed. Adversarial detection accuracy stays high at ~98.1% (insufficient privacy).
• K = 10 to 12 bits: Accuracy begins dropping sharply (down to 75.9% at K=12).
• K = 14 to 16 bits: The privacy collapse! Attacker accuracy plummets to 52.6% at K=14 and 49.57% (~50%) at K=16.</a:t>
            </a:r>
          </a:p>
          <a:p>
            <a:pPr>
              <a:spcBef>
                <a:spcPts val="800"/>
              </a:spcBef>
            </a:pPr>
            <a:r>
              <a:rPr sz="1250" b="1" i="0">
                <a:solidFill>
                  <a:srgbClr val="0F294A"/>
                </a:solidFill>
                <a:latin typeface="Arial"/>
              </a:rPr>
              <a:t>Practical Takeaway for Engineers:
</a:t>
            </a:r>
            <a:r>
              <a:rPr sz="1200" b="0" i="0">
                <a:solidFill>
                  <a:srgbClr val="475569"/>
                </a:solidFill>
                <a:latin typeface="Calibri"/>
              </a:rPr>
              <a:t>K acts as a tunable privacy dial. To achieve complete immunity against an adaptive AI adversary, all 16 bits must be scrambled.</a:t>
            </a:r>
          </a:p>
        </p:txBody>
      </p:sp>
      <p:sp>
        <p:nvSpPr>
          <p:cNvPr id="8" name="Rectangle 7"/>
          <p:cNvSpPr/>
          <p:nvPr/>
        </p:nvSpPr>
        <p:spPr>
          <a:xfrm>
            <a:off x="731520" y="1417320"/>
            <a:ext cx="54864" cy="4800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adeoff_k_vs_accuracy.png"/>
          <p:cNvPicPr>
            <a:picLocks noChangeAspect="1"/>
          </p:cNvPicPr>
          <p:nvPr/>
        </p:nvPicPr>
        <p:blipFill>
          <a:blip r:embed="rId2"/>
          <a:stretch>
            <a:fillRect/>
          </a:stretch>
        </p:blipFill>
        <p:spPr>
          <a:xfrm>
            <a:off x="6035040" y="1417320"/>
            <a:ext cx="5425135" cy="4800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INDUSTRIAL IMPACT</a:t>
            </a:r>
          </a:p>
          <a:p>
            <a:pPr>
              <a:spcBef>
                <a:spcPts val="200"/>
              </a:spcBef>
              <a:defRPr sz="2200" b="1">
                <a:solidFill>
                  <a:srgbClr val="1E3A8A"/>
                </a:solidFill>
                <a:latin typeface="Arial"/>
              </a:defRPr>
            </a:pPr>
            <a:r>
              <a:t>Real-World Deployment: Where Can This Be Applied Today?</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11 of 13</a:t>
            </a:r>
          </a:p>
        </p:txBody>
      </p:sp>
      <p:sp>
        <p:nvSpPr>
          <p:cNvPr id="7" name="Rectangle 6"/>
          <p:cNvSpPr/>
          <p:nvPr/>
        </p:nvSpPr>
        <p:spPr>
          <a:xfrm>
            <a:off x="731520" y="1417320"/>
            <a:ext cx="33832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1E3A8A"/>
                </a:solidFill>
                <a:latin typeface="Arial"/>
              </a:defRPr>
            </a:pPr>
            <a:r>
              <a:t>1. Smart Water Treatment</a:t>
            </a:r>
          </a:p>
          <a:p>
            <a:pPr>
              <a:spcBef>
                <a:spcPts val="800"/>
              </a:spcBef>
            </a:pPr>
            <a:r>
              <a:rPr sz="1250" b="1" i="0">
                <a:solidFill>
                  <a:srgbClr val="1E293B"/>
                </a:solidFill>
                <a:latin typeface="Calibri"/>
              </a:rPr>
              <a:t>• Deployment: </a:t>
            </a:r>
            <a:r>
              <a:rPr sz="1250" b="0" i="0">
                <a:solidFill>
                  <a:srgbClr val="475569"/>
                </a:solidFill>
                <a:latin typeface="Calibri"/>
              </a:rPr>
              <a:t>Remote pump stations and chlorination tanks transmitting over 4G/cellular to regional SCADA.</a:t>
            </a:r>
          </a:p>
          <a:p>
            <a:pPr>
              <a:spcBef>
                <a:spcPts val="800"/>
              </a:spcBef>
            </a:pPr>
            <a:r>
              <a:rPr sz="1250" b="1" i="0">
                <a:solidFill>
                  <a:srgbClr val="1E293B"/>
                </a:solidFill>
                <a:latin typeface="Calibri"/>
              </a:rPr>
              <a:t>• Threat Scenario: </a:t>
            </a:r>
            <a:r>
              <a:rPr sz="1250" b="0" i="0">
                <a:solidFill>
                  <a:srgbClr val="475569"/>
                </a:solidFill>
                <a:latin typeface="Calibri"/>
              </a:rPr>
              <a:t>Eavesdroppers discover chemical dosing schedules and pump timing to launch physical attacks.</a:t>
            </a:r>
          </a:p>
          <a:p>
            <a:pPr>
              <a:spcBef>
                <a:spcPts val="800"/>
              </a:spcBef>
            </a:pPr>
            <a:r>
              <a:rPr sz="1250" b="1" i="0">
                <a:solidFill>
                  <a:srgbClr val="1E293B"/>
                </a:solidFill>
                <a:latin typeface="Calibri"/>
              </a:rPr>
              <a:t>• Why DP Fails: </a:t>
            </a:r>
            <a:r>
              <a:rPr sz="1250" b="0" i="0">
                <a:solidFill>
                  <a:srgbClr val="475569"/>
                </a:solidFill>
                <a:latin typeface="Calibri"/>
              </a:rPr>
              <a:t>Permanent noise on chlorine or tank levels triggers false emergency shutdowns.</a:t>
            </a:r>
          </a:p>
          <a:p>
            <a:pPr>
              <a:spcBef>
                <a:spcPts val="800"/>
              </a:spcBef>
            </a:pPr>
            <a:r>
              <a:rPr sz="1250" b="1" i="0">
                <a:solidFill>
                  <a:srgbClr val="1E293B"/>
                </a:solidFill>
                <a:latin typeface="Calibri"/>
              </a:rPr>
              <a:t>• L-RAPID Benefit: </a:t>
            </a:r>
            <a:r>
              <a:rPr sz="1250" b="0" i="0">
                <a:solidFill>
                  <a:srgbClr val="475569"/>
                </a:solidFill>
                <a:latin typeface="Calibri"/>
              </a:rPr>
              <a:t>RTUs scramble telemetry in 0.15 µs; the cloud restores exact decimal values with 100% utility.</a:t>
            </a:r>
          </a:p>
        </p:txBody>
      </p:sp>
      <p:sp>
        <p:nvSpPr>
          <p:cNvPr id="8" name="Rectangle 7"/>
          <p:cNvSpPr/>
          <p:nvPr/>
        </p:nvSpPr>
        <p:spPr>
          <a:xfrm>
            <a:off x="731520" y="1417320"/>
            <a:ext cx="54864" cy="4800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17320"/>
            <a:ext cx="33832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284C7"/>
                </a:solidFill>
                <a:latin typeface="Arial"/>
              </a:defRPr>
            </a:pPr>
            <a:r>
              <a:t>2. Renewable Power Substation</a:t>
            </a:r>
          </a:p>
          <a:p>
            <a:pPr>
              <a:spcBef>
                <a:spcPts val="800"/>
              </a:spcBef>
            </a:pPr>
            <a:r>
              <a:rPr sz="1250" b="1" i="0">
                <a:solidFill>
                  <a:srgbClr val="1E293B"/>
                </a:solidFill>
                <a:latin typeface="Calibri"/>
              </a:rPr>
              <a:t>• Deployment: </a:t>
            </a:r>
            <a:r>
              <a:rPr sz="1250" b="0" i="0">
                <a:solidFill>
                  <a:srgbClr val="475569"/>
                </a:solidFill>
                <a:latin typeface="Calibri"/>
              </a:rPr>
              <a:t>Wind turbines and solar substations streaming grid frequency and voltage every 10–50 ms.</a:t>
            </a:r>
          </a:p>
          <a:p>
            <a:pPr>
              <a:spcBef>
                <a:spcPts val="800"/>
              </a:spcBef>
            </a:pPr>
            <a:r>
              <a:rPr sz="1250" b="1" i="0">
                <a:solidFill>
                  <a:srgbClr val="1E293B"/>
                </a:solidFill>
                <a:latin typeface="Calibri"/>
              </a:rPr>
              <a:t>• Threat Scenario: </a:t>
            </a:r>
            <a:r>
              <a:rPr sz="1250" b="0" i="0">
                <a:solidFill>
                  <a:srgbClr val="475569"/>
                </a:solidFill>
                <a:latin typeface="Calibri"/>
              </a:rPr>
              <a:t>Strict sub-millisecond latency budgets. Software AES causes buffer overflows and desync.</a:t>
            </a:r>
          </a:p>
          <a:p>
            <a:pPr>
              <a:spcBef>
                <a:spcPts val="800"/>
              </a:spcBef>
            </a:pPr>
            <a:r>
              <a:rPr sz="1250" b="1" i="0">
                <a:solidFill>
                  <a:srgbClr val="1E293B"/>
                </a:solidFill>
                <a:latin typeface="Calibri"/>
              </a:rPr>
              <a:t>• L-RAPID Benefit: </a:t>
            </a:r>
            <a:r>
              <a:rPr sz="1250" b="0" i="0">
                <a:solidFill>
                  <a:srgbClr val="475569"/>
                </a:solidFill>
                <a:latin typeface="Calibri"/>
              </a:rPr>
              <a:t>At 0.15 µs, introduces zero lag. Protects grid telemetry from nation-state reconnaissance without risking blackouts.</a:t>
            </a:r>
          </a:p>
        </p:txBody>
      </p:sp>
      <p:sp>
        <p:nvSpPr>
          <p:cNvPr id="10" name="Rectangle 9"/>
          <p:cNvSpPr/>
          <p:nvPr/>
        </p:nvSpPr>
        <p:spPr>
          <a:xfrm>
            <a:off x="4389120" y="1417320"/>
            <a:ext cx="54864" cy="48006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417320"/>
            <a:ext cx="33832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F294A"/>
                </a:solidFill>
                <a:latin typeface="Arial"/>
              </a:defRPr>
            </a:pPr>
            <a:r>
              <a:t>3. Factory Cloud Predictive AI</a:t>
            </a:r>
          </a:p>
          <a:p>
            <a:pPr>
              <a:spcBef>
                <a:spcPts val="800"/>
              </a:spcBef>
            </a:pPr>
            <a:r>
              <a:rPr sz="1250" b="1" i="0">
                <a:solidFill>
                  <a:srgbClr val="1E293B"/>
                </a:solidFill>
                <a:latin typeface="Calibri"/>
              </a:rPr>
              <a:t>• Deployment: </a:t>
            </a:r>
            <a:r>
              <a:rPr sz="1250" b="0" i="0">
                <a:solidFill>
                  <a:srgbClr val="475569"/>
                </a:solidFill>
                <a:latin typeface="Calibri"/>
              </a:rPr>
              <a:t>Manufacturing plants streaming spindle vibration and heat data to public cloud AI (AWS / Azure).</a:t>
            </a:r>
          </a:p>
          <a:p>
            <a:pPr>
              <a:spcBef>
                <a:spcPts val="800"/>
              </a:spcBef>
            </a:pPr>
            <a:r>
              <a:rPr sz="1250" b="1" i="0">
                <a:solidFill>
                  <a:srgbClr val="1E293B"/>
                </a:solidFill>
                <a:latin typeface="Calibri"/>
              </a:rPr>
              <a:t>• Threat Scenario: </a:t>
            </a:r>
            <a:r>
              <a:rPr sz="1250" b="0" i="0">
                <a:solidFill>
                  <a:srgbClr val="475569"/>
                </a:solidFill>
                <a:latin typeface="Calibri"/>
              </a:rPr>
              <a:t>Competitors wiretap telemetry to deduce proprietary recipes, yield rates, and production volumes.</a:t>
            </a:r>
          </a:p>
          <a:p>
            <a:pPr>
              <a:spcBef>
                <a:spcPts val="800"/>
              </a:spcBef>
            </a:pPr>
            <a:r>
              <a:rPr sz="1250" b="1" i="0">
                <a:solidFill>
                  <a:srgbClr val="1E293B"/>
                </a:solidFill>
                <a:latin typeface="Calibri"/>
              </a:rPr>
              <a:t>• L-RAPID Benefit: </a:t>
            </a:r>
            <a:r>
              <a:rPr sz="1250" b="0" i="0">
                <a:solidFill>
                  <a:srgbClr val="475569"/>
                </a:solidFill>
                <a:latin typeface="Calibri"/>
              </a:rPr>
              <a:t>Gateway scrambles data before cloud ingestion; only authorized engineers reverse telemetry for digital twins.</a:t>
            </a:r>
          </a:p>
        </p:txBody>
      </p:sp>
      <p:sp>
        <p:nvSpPr>
          <p:cNvPr id="12" name="Rectangle 11"/>
          <p:cNvSpPr/>
          <p:nvPr/>
        </p:nvSpPr>
        <p:spPr>
          <a:xfrm>
            <a:off x="8046720" y="1417320"/>
            <a:ext cx="54864" cy="4800600"/>
          </a:xfrm>
          <a:prstGeom prst="rect">
            <a:avLst/>
          </a:prstGeom>
          <a:solidFill>
            <a:srgbClr val="0F294A"/>
          </a:solidFill>
          <a:ln>
            <a:solidFill>
              <a:srgbClr val="0F2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CRYPTOGRAPHIC DEFENSE</a:t>
            </a:r>
          </a:p>
          <a:p>
            <a:pPr>
              <a:spcBef>
                <a:spcPts val="200"/>
              </a:spcBef>
              <a:defRPr sz="2200" b="1">
                <a:solidFill>
                  <a:srgbClr val="1E3A8A"/>
                </a:solidFill>
                <a:latin typeface="Arial"/>
              </a:defRPr>
            </a:pPr>
            <a:r>
              <a:t>Security Analysis &amp; Production Roadmap</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12 of 13</a:t>
            </a:r>
          </a:p>
        </p:txBody>
      </p:sp>
      <p:sp>
        <p:nvSpPr>
          <p:cNvPr id="7" name="Rectangle 6"/>
          <p:cNvSpPr/>
          <p:nvPr/>
        </p:nvSpPr>
        <p:spPr>
          <a:xfrm>
            <a:off x="731520"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Kerckhoffs's Principle: Open Algorithm Security</a:t>
            </a:r>
          </a:p>
          <a:p>
            <a:pPr>
              <a:spcBef>
                <a:spcPts val="800"/>
              </a:spcBef>
            </a:pPr>
            <a:r>
              <a:rPr sz="1250" b="1" i="0">
                <a:solidFill>
                  <a:srgbClr val="0F294A"/>
                </a:solidFill>
                <a:latin typeface="Arial"/>
              </a:rPr>
              <a:t>Anticipated Question:
</a:t>
            </a:r>
            <a:r>
              <a:rPr sz="1200" b="0" i="0">
                <a:solidFill>
                  <a:srgbClr val="475569"/>
                </a:solidFill>
                <a:latin typeface="Calibri"/>
              </a:rPr>
              <a:t>'If your paper publishes the exact algorithm, can't attackers reverse-engineer the Modbus registers?'</a:t>
            </a:r>
          </a:p>
          <a:p>
            <a:pPr>
              <a:spcBef>
                <a:spcPts val="800"/>
              </a:spcBef>
            </a:pPr>
            <a:r>
              <a:rPr sz="1250" b="1" i="0">
                <a:solidFill>
                  <a:srgbClr val="0F294A"/>
                </a:solidFill>
                <a:latin typeface="Arial"/>
              </a:rPr>
              <a:t>Answer: Security Relies on Key Secrecy, Not Obscurity:
</a:t>
            </a:r>
            <a:r>
              <a:rPr sz="1200" b="0" i="0">
                <a:solidFill>
                  <a:srgbClr val="475569"/>
                </a:solidFill>
                <a:latin typeface="Calibri"/>
              </a:rPr>
              <a:t>1. Math of XOR: P = C ⊕ K. Knowing the formula is XOR gives the attacker ZERO bits of information about the secret keystream K. All plaintexts remain equally likely.
2. Brute-Force Immunity: A 64-bit packed word spans 2^64 ≈ 18.4 quintillion states per packet. A cluster testing 1 billion keys/sec would require &gt;580 years to brute-force a single frame.
3. Defeating Known-Plaintext Attacks (KPA): In production, keystream derivation is dynamic per-packet. Knowing packet #1 gives zero help in decrypting packet #2.</a:t>
            </a:r>
          </a:p>
        </p:txBody>
      </p:sp>
      <p:sp>
        <p:nvSpPr>
          <p:cNvPr id="8" name="Rectangle 7"/>
          <p:cNvSpPr/>
          <p:nvPr/>
        </p:nvSpPr>
        <p:spPr>
          <a:xfrm>
            <a:off x="731520" y="1417320"/>
            <a:ext cx="54864" cy="480060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417320"/>
            <a:ext cx="5212080" cy="4800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365760" tIns="228600" rIns="365760"/>
          <a:lstStyle/>
          <a:p>
            <a:pPr algn="ctr">
              <a:defRPr sz="1600" b="1">
                <a:solidFill>
                  <a:srgbClr val="1E3A8A"/>
                </a:solidFill>
                <a:latin typeface="Arial"/>
              </a:defRPr>
            </a:pPr>
            <a:r>
              <a:t>Production Roadmap &amp; Future Work</a:t>
            </a:r>
          </a:p>
          <a:p>
            <a:pPr>
              <a:spcBef>
                <a:spcPts val="800"/>
              </a:spcBef>
            </a:pPr>
            <a:r>
              <a:rPr sz="1250" b="1" i="0">
                <a:solidFill>
                  <a:srgbClr val="0F294A"/>
                </a:solidFill>
                <a:latin typeface="Arial"/>
              </a:rPr>
              <a:t>1. Dynamic Keystream Derivation:
</a:t>
            </a:r>
            <a:r>
              <a:rPr sz="1200" b="0" i="0">
                <a:solidFill>
                  <a:srgbClr val="475569"/>
                </a:solidFill>
                <a:latin typeface="Calibri"/>
              </a:rPr>
              <a:t>• Prototype: Static seed (999) used strictly for experimental reproducibility.
• Production: Integration with modern stream ciphers (ChaCha20 or ASCON-128a) paired with a per-packet nonce counter for forward secrecy.</a:t>
            </a:r>
          </a:p>
          <a:p>
            <a:pPr>
              <a:spcBef>
                <a:spcPts val="800"/>
              </a:spcBef>
            </a:pPr>
            <a:r>
              <a:rPr sz="1250" b="1" i="0">
                <a:solidFill>
                  <a:srgbClr val="0F294A"/>
                </a:solidFill>
                <a:latin typeface="Arial"/>
              </a:rPr>
              <a:t>2. Hardware-in-the-Loop (HIL) Deployment:
</a:t>
            </a:r>
            <a:r>
              <a:rPr sz="1200" b="0" i="0">
                <a:solidFill>
                  <a:srgbClr val="475569"/>
                </a:solidFill>
                <a:latin typeface="Calibri"/>
              </a:rPr>
              <a:t>• Deploying firmware on physical Siemens S7-1200 and Schneider Electric Modbus PLCs.
• Empirical power profiling and CPU jitter benchmarking in operational testbeds.</a:t>
            </a:r>
          </a:p>
          <a:p>
            <a:pPr>
              <a:spcBef>
                <a:spcPts val="800"/>
              </a:spcBef>
            </a:pPr>
            <a:r>
              <a:rPr sz="1250" b="1" i="0">
                <a:solidFill>
                  <a:srgbClr val="0F294A"/>
                </a:solidFill>
                <a:latin typeface="Arial"/>
              </a:rPr>
              <a:t>3. Expansion to Full Journal Paper:
</a:t>
            </a:r>
            <a:r>
              <a:rPr sz="1200" b="0" i="0">
                <a:solidFill>
                  <a:srgbClr val="475569"/>
                </a:solidFill>
                <a:latin typeface="Calibri"/>
              </a:rPr>
              <a:t>• Expanding our 2-page conference abstract into a 10-page Journal paper (Draft_Paper_RDP_Modbus.md) with formal mutual information leakage bounds.</a:t>
            </a:r>
          </a:p>
        </p:txBody>
      </p:sp>
      <p:sp>
        <p:nvSpPr>
          <p:cNvPr id="10" name="Rectangle 9"/>
          <p:cNvSpPr/>
          <p:nvPr/>
        </p:nvSpPr>
        <p:spPr>
          <a:xfrm>
            <a:off x="6248095" y="1417320"/>
            <a:ext cx="54864" cy="480060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868680"/>
          </a:xfrm>
          <a:prstGeom prst="rect">
            <a:avLst/>
          </a:prstGeom>
          <a:noFill/>
        </p:spPr>
        <p:txBody>
          <a:bodyPr wrap="square" lIns="0" tIns="0" rIns="0">
            <a:spAutoFit/>
          </a:bodyPr>
          <a:lstStyle/>
          <a:p>
            <a:pPr>
              <a:defRPr sz="950" b="1">
                <a:solidFill>
                  <a:srgbClr val="0284C7"/>
                </a:solidFill>
                <a:latin typeface="Arial"/>
              </a:defRPr>
            </a:pPr>
            <a:r>
              <a:t>SUMMARY</a:t>
            </a:r>
          </a:p>
          <a:p>
            <a:pPr>
              <a:spcBef>
                <a:spcPts val="200"/>
              </a:spcBef>
              <a:defRPr sz="2200" b="1">
                <a:solidFill>
                  <a:srgbClr val="1E3A8A"/>
                </a:solidFill>
                <a:latin typeface="Arial"/>
              </a:defRPr>
            </a:pPr>
            <a:r>
              <a:t>Conclusion &amp; Summary of Contributions</a:t>
            </a:r>
          </a:p>
        </p:txBody>
      </p:sp>
      <p:sp>
        <p:nvSpPr>
          <p:cNvPr id="3" name="Rectangle 2"/>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0"/>
            <a:ext cx="10728655" cy="10972"/>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320040"/>
          </a:xfrm>
          <a:prstGeom prst="rect">
            <a:avLst/>
          </a:prstGeom>
          <a:noFill/>
        </p:spPr>
        <p:txBody>
          <a:bodyPr wrap="none" lIns="0" tIns="0">
            <a:spAutoFit/>
          </a:bodyPr>
          <a:lstStyle/>
          <a:p>
            <a:pPr>
              <a:defRPr sz="950">
                <a:solidFill>
                  <a:srgbClr val="64748B"/>
                </a:solidFill>
                <a:latin typeface="Calibri"/>
              </a:defRPr>
            </a:pPr>
            <a:r>
              <a:t>CyberMACS 2026  |  L-RAPID: Lightweight Reversible IIoT Telemetry Perturbation (Paper #203)</a:t>
            </a:r>
          </a:p>
        </p:txBody>
      </p:sp>
      <p:sp>
        <p:nvSpPr>
          <p:cNvPr id="6" name="TextBox 5"/>
          <p:cNvSpPr txBox="1"/>
          <p:nvPr/>
        </p:nvSpPr>
        <p:spPr>
          <a:xfrm>
            <a:off x="9601200" y="6446520"/>
            <a:ext cx="1858975" cy="320040"/>
          </a:xfrm>
          <a:prstGeom prst="rect">
            <a:avLst/>
          </a:prstGeom>
          <a:noFill/>
        </p:spPr>
        <p:txBody>
          <a:bodyPr wrap="none" rIns="0" tIns="0">
            <a:spAutoFit/>
          </a:bodyPr>
          <a:lstStyle/>
          <a:p>
            <a:pPr algn="r">
              <a:defRPr sz="950">
                <a:solidFill>
                  <a:srgbClr val="64748B"/>
                </a:solidFill>
                <a:latin typeface="Calibri"/>
              </a:defRPr>
            </a:pPr>
            <a:r>
              <a:t>Slide 13 of 13</a:t>
            </a:r>
          </a:p>
        </p:txBody>
      </p:sp>
      <p:sp>
        <p:nvSpPr>
          <p:cNvPr id="7" name="Rectangle 6"/>
          <p:cNvSpPr/>
          <p:nvPr/>
        </p:nvSpPr>
        <p:spPr>
          <a:xfrm>
            <a:off x="731520" y="1417320"/>
            <a:ext cx="3383280" cy="29260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1E3A8A"/>
                </a:solidFill>
                <a:latin typeface="Arial"/>
              </a:defRPr>
            </a:pPr>
            <a:r>
              <a:t>Sub-Microsecond Speed</a:t>
            </a:r>
          </a:p>
          <a:p>
            <a:pPr>
              <a:spcBef>
                <a:spcPts val="400"/>
              </a:spcBef>
            </a:pPr>
            <a:r>
              <a:rPr sz="1200" b="0" i="0">
                <a:solidFill>
                  <a:srgbClr val="1E293B"/>
                </a:solidFill>
                <a:latin typeface="Calibri"/>
              </a:rPr>
              <a:t>• 0.15 µs per-packet latency.</a:t>
            </a:r>
          </a:p>
          <a:p>
            <a:pPr>
              <a:spcBef>
                <a:spcPts val="400"/>
              </a:spcBef>
            </a:pPr>
            <a:r>
              <a:rPr sz="1200" b="0" i="0">
                <a:solidFill>
                  <a:srgbClr val="1E293B"/>
                </a:solidFill>
                <a:latin typeface="Calibri"/>
              </a:rPr>
              <a:t>• ~70× faster than AES-CBC.</a:t>
            </a:r>
          </a:p>
          <a:p>
            <a:pPr>
              <a:spcBef>
                <a:spcPts val="400"/>
              </a:spcBef>
            </a:pPr>
            <a:r>
              <a:rPr sz="1200" b="0" i="0">
                <a:solidFill>
                  <a:srgbClr val="1E293B"/>
                </a:solidFill>
                <a:latin typeface="Calibri"/>
              </a:rPr>
              <a:t>• 10× faster than 16-bit XOR via packed 64-bit word parallelism.</a:t>
            </a:r>
          </a:p>
          <a:p>
            <a:pPr>
              <a:spcBef>
                <a:spcPts val="400"/>
              </a:spcBef>
            </a:pPr>
            <a:r>
              <a:rPr sz="1200" b="0" i="0">
                <a:solidFill>
                  <a:srgbClr val="1E293B"/>
                </a:solidFill>
                <a:latin typeface="Calibri"/>
              </a:rPr>
              <a:t>• Zero real-time lag on legacy PLCs.</a:t>
            </a:r>
          </a:p>
        </p:txBody>
      </p:sp>
      <p:sp>
        <p:nvSpPr>
          <p:cNvPr id="8" name="Rectangle 7"/>
          <p:cNvSpPr/>
          <p:nvPr/>
        </p:nvSpPr>
        <p:spPr>
          <a:xfrm>
            <a:off x="731520" y="1417320"/>
            <a:ext cx="54864" cy="292608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17320"/>
            <a:ext cx="3383280" cy="29260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284C7"/>
                </a:solidFill>
                <a:latin typeface="Arial"/>
              </a:defRPr>
            </a:pPr>
            <a:r>
              <a:t>Adaptive AI Defense</a:t>
            </a:r>
          </a:p>
          <a:p>
            <a:pPr>
              <a:spcBef>
                <a:spcPts val="400"/>
              </a:spcBef>
            </a:pPr>
            <a:r>
              <a:rPr sz="1200" b="0" i="0">
                <a:solidFill>
                  <a:srgbClr val="1E293B"/>
                </a:solidFill>
                <a:latin typeface="Calibri"/>
              </a:rPr>
              <a:t>• Baseline ML: 98.47% accuracy.</a:t>
            </a:r>
          </a:p>
          <a:p>
            <a:pPr>
              <a:spcBef>
                <a:spcPts val="400"/>
              </a:spcBef>
            </a:pPr>
            <a:r>
              <a:rPr sz="1200" b="0" i="0">
                <a:solidFill>
                  <a:srgbClr val="1E293B"/>
                </a:solidFill>
                <a:latin typeface="Calibri"/>
              </a:rPr>
              <a:t>• Static Attacker: Drops to 48.8%.</a:t>
            </a:r>
          </a:p>
          <a:p>
            <a:pPr>
              <a:spcBef>
                <a:spcPts val="400"/>
              </a:spcBef>
            </a:pPr>
            <a:r>
              <a:rPr sz="1200" b="0" i="0">
                <a:solidFill>
                  <a:srgbClr val="1E293B"/>
                </a:solidFill>
                <a:latin typeface="Calibri"/>
              </a:rPr>
              <a:t>• Adaptive Attacker: Drops to 49.9% even with 80% retraining.</a:t>
            </a:r>
          </a:p>
          <a:p>
            <a:pPr>
              <a:spcBef>
                <a:spcPts val="400"/>
              </a:spcBef>
            </a:pPr>
            <a:r>
              <a:rPr sz="1200" b="0" i="0">
                <a:solidFill>
                  <a:srgbClr val="1E293B"/>
                </a:solidFill>
                <a:latin typeface="Calibri"/>
              </a:rPr>
              <a:t>• Zero exploitable discriminative structure.</a:t>
            </a:r>
          </a:p>
        </p:txBody>
      </p:sp>
      <p:sp>
        <p:nvSpPr>
          <p:cNvPr id="10" name="Rectangle 9"/>
          <p:cNvSpPr/>
          <p:nvPr/>
        </p:nvSpPr>
        <p:spPr>
          <a:xfrm>
            <a:off x="4389120" y="1417320"/>
            <a:ext cx="54864" cy="2926080"/>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417320"/>
            <a:ext cx="3383280" cy="29260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28600" rIns="228600"/>
          <a:lstStyle/>
          <a:p>
            <a:pPr algn="ctr">
              <a:defRPr sz="1500" b="1">
                <a:solidFill>
                  <a:srgbClr val="047857"/>
                </a:solidFill>
                <a:latin typeface="Arial"/>
              </a:defRPr>
            </a:pPr>
            <a:r>
              <a:t>100% Exact Utility</a:t>
            </a:r>
          </a:p>
          <a:p>
            <a:pPr>
              <a:spcBef>
                <a:spcPts val="400"/>
              </a:spcBef>
            </a:pPr>
            <a:r>
              <a:rPr sz="1200" b="0" i="0">
                <a:solidFill>
                  <a:srgbClr val="1E293B"/>
                </a:solidFill>
                <a:latin typeface="Calibri"/>
              </a:rPr>
              <a:t>• 100.0% Exact match restoration.</a:t>
            </a:r>
          </a:p>
          <a:p>
            <a:pPr>
              <a:spcBef>
                <a:spcPts val="400"/>
              </a:spcBef>
            </a:pPr>
            <a:r>
              <a:rPr sz="1200" b="0" i="0">
                <a:solidFill>
                  <a:srgbClr val="1E293B"/>
                </a:solidFill>
                <a:latin typeface="Calibri"/>
              </a:rPr>
              <a:t>• 0 reconstruction error.</a:t>
            </a:r>
          </a:p>
          <a:p>
            <a:pPr>
              <a:spcBef>
                <a:spcPts val="400"/>
              </a:spcBef>
            </a:pPr>
            <a:r>
              <a:rPr sz="1200" b="0" i="0">
                <a:solidFill>
                  <a:srgbClr val="1E293B"/>
                </a:solidFill>
                <a:latin typeface="Calibri"/>
              </a:rPr>
              <a:t>• Unlike Differential Privacy, no permanent signal distortion.</a:t>
            </a:r>
          </a:p>
          <a:p>
            <a:pPr>
              <a:spcBef>
                <a:spcPts val="400"/>
              </a:spcBef>
            </a:pPr>
            <a:r>
              <a:rPr sz="1200" b="0" i="0">
                <a:solidFill>
                  <a:srgbClr val="1E293B"/>
                </a:solidFill>
                <a:latin typeface="Calibri"/>
              </a:rPr>
              <a:t>• Full fidelity for cloud analytics.</a:t>
            </a:r>
          </a:p>
        </p:txBody>
      </p:sp>
      <p:sp>
        <p:nvSpPr>
          <p:cNvPr id="12" name="Rectangle 11"/>
          <p:cNvSpPr/>
          <p:nvPr/>
        </p:nvSpPr>
        <p:spPr>
          <a:xfrm>
            <a:off x="8046720" y="1417320"/>
            <a:ext cx="54864" cy="2926080"/>
          </a:xfrm>
          <a:prstGeom prst="rect">
            <a:avLst/>
          </a:prstGeom>
          <a:solidFill>
            <a:srgbClr val="047857"/>
          </a:solidFill>
          <a:ln>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526280"/>
            <a:ext cx="10728655" cy="1691640"/>
          </a:xfrm>
          <a:prstGeom prst="rect">
            <a:avLst/>
          </a:prstGeom>
          <a:solidFill>
            <a:srgbClr val="F0F7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defRPr sz="1800" b="1">
                <a:solidFill>
                  <a:srgbClr val="1E3A8A"/>
                </a:solidFill>
                <a:latin typeface="Arial"/>
              </a:defRPr>
            </a:pPr>
            <a:r>
              <a:t>Thank You! Questions &amp; Discussion</a:t>
            </a:r>
          </a:p>
          <a:p>
            <a:pPr>
              <a:spcBef>
                <a:spcPts val="400"/>
              </a:spcBef>
              <a:defRPr sz="1200">
                <a:solidFill>
                  <a:srgbClr val="1E293B"/>
                </a:solidFill>
                <a:latin typeface="Calibri"/>
              </a:defRPr>
            </a:pPr>
            <a:r>
              <a:t>Supported by Erasmus Mundus CyberMACS (Project #101082683) and TÜBİTAK-1001 (Project #125E288).</a:t>
            </a:r>
            <a:br/>
            <a:r>
              <a:t>Kadir Has University, Istanbul, Türkiye  |  Email: rabbihasan.himel@stu.khas.edu.tr</a:t>
            </a:r>
          </a:p>
        </p:txBody>
      </p:sp>
      <p:sp>
        <p:nvSpPr>
          <p:cNvPr id="14" name="Rectangle 13"/>
          <p:cNvSpPr/>
          <p:nvPr/>
        </p:nvSpPr>
        <p:spPr>
          <a:xfrm>
            <a:off x="731520" y="4526280"/>
            <a:ext cx="54864" cy="16916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