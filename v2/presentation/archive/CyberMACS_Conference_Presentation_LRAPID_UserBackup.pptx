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8"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418" autoAdjust="0"/>
  </p:normalViewPr>
  <p:slideViewPr>
    <p:cSldViewPr snapToGrid="0" snapToObjects="1">
      <p:cViewPr>
        <p:scale>
          <a:sx n="66" d="100"/>
          <a:sy n="66" d="100"/>
        </p:scale>
        <p:origin x="1301" y="-2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0848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Good morning/afternoon distinguished committee members, professors, and fellow researchers. My name is Rabbi Hasan Himel, representing our research team from the Erasmus Mundus Joint Master's Programme in Applied Cybersecurity (CyberMACS) at Kadir Has University.</a:t>
            </a:r>
          </a:p>
          <a:p>
            <a:endParaRPr/>
          </a:p>
          <a:p>
            <a:r>
              <a:t>Today, I am thrilled to present our work titled: 'L-RAPID: Lightweight Reversible And Privacy-Preserving IIoT Data-Perturbation System.' This research tackles a critical dilemma in industrial cybersecurity: how to protect legacy industrial controllers from eavesdropping and adversarial machine learning, without sacrificing sub-millisecond real-time performance or data utility for the cloud.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understand why this problem is urgent, we must look at the reality of modern industry. The Modbus protocol was engineered in 1979—decades before cybersecurity was a concern. Today, it powers over 60% of critical infrastructure, including municipal water distribution, power grid substations, and automotive plants.</a:t>
            </a:r>
          </a:p>
          <a:p>
            <a:endParaRPr/>
          </a:p>
          <a:p>
            <a:r>
              <a:t>Modbus has zero built-in encryption. As factory operators connect legacy PLCs to cloud platforms, adversaries can wiretap network streams and train machine learning models to infer operational states, steal manufacturing intellectual property, or prepare for targeted physical sabotage.</a:t>
            </a:r>
          </a:p>
          <a:p>
            <a:endParaRPr/>
          </a:p>
          <a:p>
            <a:r>
              <a:t>However, factory owners cannot just replace every multi-thousand dollar PLC. We need a solution that works on legacy hardware today without disrupting operational safety.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SCRIPT:</a:t>
            </a:r>
          </a:p>
          <a:p>
            <a:r>
              <a:rPr dirty="0"/>
              <a:t>When cybersecurity engineers look at this problem, they usually suggest two standard tools: First: 'Just encrypt everything with AES or TLS.' But on a 15-year-old PLC running a 16-bit microcontroller, there is no AES-NI hardware accelerator. Software AES introduces huge latency spikes that break real-time Modbus scan cycles and drop packets.</a:t>
            </a:r>
          </a:p>
          <a:p>
            <a:endParaRPr dirty="0"/>
          </a:p>
          <a:p>
            <a:r>
              <a:rPr dirty="0"/>
              <a:t>Second: 'Why not use Differential Privacy and add Gaussian or Laplacian noise?' Because in industrial control systems, noise is irreversible! If you permanently distort boiler pressure or chemical concentrations, your cloud safety monitoring system triggers false alarms or misses real disasters.</a:t>
            </a:r>
          </a:p>
          <a:p>
            <a:endParaRPr dirty="0"/>
          </a:p>
          <a:p>
            <a:r>
              <a:rPr dirty="0"/>
              <a:t>This framed our core research question: Can we design a system that scrambles data in-flight with near-zero latency, while allowing authorized cloud receivers to reverse it with 100% exact numerical restoration?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SCRIPT:</a:t>
            </a:r>
          </a:p>
          <a:p>
            <a:r>
              <a:rPr dirty="0"/>
              <a:t>This brings us to our solution: L-RAPID (Lightweight Reversible And Privacy-Preserving </a:t>
            </a:r>
            <a:r>
              <a:rPr dirty="0" err="1"/>
              <a:t>IIoT</a:t>
            </a:r>
            <a:r>
              <a:rPr dirty="0"/>
              <a:t> Data-Perturbation).</a:t>
            </a:r>
          </a:p>
          <a:p>
            <a:endParaRPr dirty="0"/>
          </a:p>
          <a:p>
            <a:r>
              <a:rPr dirty="0"/>
              <a:t>Here is how the 3-tier architecture operates:</a:t>
            </a:r>
          </a:p>
          <a:p>
            <a:r>
              <a:rPr dirty="0"/>
              <a:t>1. At the Edge PLC: We take the 4 Modbus telemetry registers, pack them into a single 64-bit integer, and bitwise XOR them with a pseudorandom keystream in just 0.15 microseconds.</a:t>
            </a:r>
          </a:p>
          <a:p>
            <a:r>
              <a:rPr dirty="0"/>
              <a:t>2. On the Wire: Any wiretapping adversary only observes high-entropy scrambled numbers. Even if they intercept the traffic and retrain an intrusion detection model on it, their accuracy drops to 49.9%—the exact equivalent of flipping a coin.</a:t>
            </a:r>
          </a:p>
          <a:p>
            <a:r>
              <a:rPr dirty="0"/>
              <a:t>3. At the Authorized Cloud: Because both sides share the secret synchronization seed, the cloud regenerates the exact same keystream and applies the self-inverting XOR operation again. The data is restored with 100% exact numerical match, preserving full utility for analytics.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Let's look at the core technical innovation: Packed 64-Bit Word-Parallel processing.</a:t>
            </a:r>
          </a:p>
          <a:p>
            <a:endParaRPr/>
          </a:p>
          <a:p>
            <a:r>
              <a:t>In a standard Modbus packet, multiple 16-bit registers are transmitted together. If you perturb registers one by one, the CPU has to execute 4 separate load, XOR, and store instructions. That takes 1.48 microseconds.</a:t>
            </a:r>
          </a:p>
          <a:p>
            <a:endParaRPr/>
          </a:p>
          <a:p>
            <a:r>
              <a:t>Instead, we bit-pack all 4 registers into a single 64-bit integer word using simple bit-shifts. Now, a modern 64-bit processor executes the entire perturbation across all 4 registers in a single CPU instruction! That slashed our per-packet latency by 10×—down to 0.15 microseconds.</a:t>
            </a:r>
          </a:p>
          <a:p>
            <a:endParaRPr/>
          </a:p>
          <a:p>
            <a:r>
              <a:t>I want to highlight an honest scientific distinction: this speedup comes from architectural word parallelism, not cryptographic diffusion, because plain bitwise XOR does not mix bits across register boundaries. Being precise about this distinction is what makes our research solid.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rigorously test our pipeline, we evaluated it against the Modbus subset of the ToN_IoT dataset, comprising 31,106 samples covering 5 real attack categories like Injection, Backdoor, and Scanning.</a:t>
            </a:r>
          </a:p>
          <a:p>
            <a:endParaRPr/>
          </a:p>
          <a:p>
            <a:r>
              <a:t>The dataset records four 16-bit Modbus registers: FC1 to FC4. First, we trained a baseline Random Forest classifier on the raw, clean data using an 80/20 stratified split. The baseline achieved 98.47% accuracy and an F1-score of 0.9847, making only 95 errors out of over 6,200 test samples.</a:t>
            </a:r>
          </a:p>
          <a:p>
            <a:endParaRPr/>
          </a:p>
          <a:p>
            <a:r>
              <a:t>This proved an important prerequisite: raw industrial Modbus telemetry has a very strong, exploitable pattern. Without perturbation, any attacker tapping the wire can easily monitor the plant's operational state.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Now let's examine our security evaluation. This was the most important scientific contribution of our paper.</a:t>
            </a:r>
          </a:p>
          <a:p>
            <a:endParaRPr/>
          </a:p>
          <a:p>
            <a:r>
              <a:t>In peer review, Reviewer 2 asked a tough question: 'If you train a classifier on clean data and test it on scrambled data, of course accuracy drops. Isn't that just a distribution shift?'</a:t>
            </a:r>
          </a:p>
          <a:p>
            <a:endParaRPr/>
          </a:p>
          <a:p>
            <a:r>
              <a:t>To answer this definitively, we evaluated two separate adversaries:</a:t>
            </a:r>
          </a:p>
          <a:p>
            <a:r>
              <a:t>First, the Static Adversary: an attacker using a pre-trained model on clean data. Accuracy dropped to 48.8%.</a:t>
            </a:r>
          </a:p>
          <a:p>
            <a:r>
              <a:t>Second, the Adaptive Adversary: we gave the attacker an 80% training set of intercepted perturbed traffic WITH ground-truth labels, and let them train a fresh Random Forest model directly on the perturbed data.</a:t>
            </a:r>
          </a:p>
          <a:p>
            <a:endParaRPr/>
          </a:p>
          <a:p>
            <a:r>
              <a:t>Look at the result: even with full retraining, the adaptive adversary achieved only 49.9% accuracy—the exact equivalent of flipping a coin! This conclusively proves that our perturbation doesn't just confuse a static model; it obliterates the mutual information between features and class labels.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165A5-2EB8-1055-DF7D-157252AA7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D4C8C-607D-FA48-EC08-4847E4EF386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FC514B3-8EA1-CE1A-8D9C-AD1DEA9CEB19}"/>
              </a:ext>
            </a:extLst>
          </p:cNvPr>
          <p:cNvSpPr>
            <a:spLocks noGrp="1"/>
          </p:cNvSpPr>
          <p:nvPr>
            <p:ph type="body" sz="quarter" idx="3"/>
          </p:nvPr>
        </p:nvSpPr>
        <p:spPr/>
        <p:txBody>
          <a:bodyPr/>
          <a:lstStyle/>
          <a:p>
            <a:r>
              <a:t>SPEAKER SCRIPT:</a:t>
            </a:r>
          </a:p>
          <a:p>
            <a:r>
              <a:t>Now let's examine our security evaluation. This was the most important scientific contribution of our paper.</a:t>
            </a:r>
          </a:p>
          <a:p>
            <a:endParaRPr/>
          </a:p>
          <a:p>
            <a:r>
              <a:t>In peer review, Reviewer 2 asked a tough question: 'If you train a classifier on clean data and test it on scrambled data, of course accuracy drops. Isn't that just a distribution shift?'</a:t>
            </a:r>
          </a:p>
          <a:p>
            <a:endParaRPr/>
          </a:p>
          <a:p>
            <a:r>
              <a:t>To answer this definitively, we evaluated two separate adversaries:</a:t>
            </a:r>
          </a:p>
          <a:p>
            <a:r>
              <a:t>First, the Static Adversary: an attacker using a pre-trained model on clean data. Accuracy dropped to 48.8%.</a:t>
            </a:r>
          </a:p>
          <a:p>
            <a:r>
              <a:t>Second, the Adaptive Adversary: we gave the attacker an 80% training set of intercepted perturbed traffic WITH ground-truth labels, and let them train a fresh Random Forest model directly on the perturbed data.</a:t>
            </a:r>
          </a:p>
          <a:p>
            <a:endParaRPr/>
          </a:p>
          <a:p>
            <a:r>
              <a:t>Look at the result: even with full retraining, the adaptive adversary achieved only 49.9% accuracy—the exact equivalent of flipping a coin! This conclusively proves that our perturbation doesn't just confuse a static model; it obliterates the mutual information between features and class labels.</a:t>
            </a:r>
          </a:p>
        </p:txBody>
      </p:sp>
      <p:sp>
        <p:nvSpPr>
          <p:cNvPr id="4" name="Slide Number Placeholder 3">
            <a:extLst>
              <a:ext uri="{FF2B5EF4-FFF2-40B4-BE49-F238E27FC236}">
                <a16:creationId xmlns:a16="http://schemas.microsoft.com/office/drawing/2014/main" id="{AE8A8612-7F61-EB96-C5DD-290D2542DD49}"/>
              </a:ext>
            </a:extLst>
          </p:cNvPr>
          <p:cNvSpPr>
            <a:spLocks noGrp="1"/>
          </p:cNvSpPr>
          <p:nvPr>
            <p:ph type="sldNum" sz="quarter" idx="5"/>
          </p:nvPr>
        </p:nvSpPr>
        <p:spPr/>
      </p:sp>
    </p:spTree>
    <p:extLst>
      <p:ext uri="{BB962C8B-B14F-4D97-AF65-F5344CB8AC3E}">
        <p14:creationId xmlns:p14="http://schemas.microsoft.com/office/powerpoint/2010/main" val="1069963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Here is our complete computational latency benchmark. We benchmarked our pipeline against standard AES and ChaCha20 over 10 repetitions across all 31,106 packets.</a:t>
            </a:r>
          </a:p>
          <a:p>
            <a:endParaRPr/>
          </a:p>
          <a:p>
            <a:r>
              <a:t>Look at row 5: our packed 64-bit XOR achieved a per-packet latency of just 0.15 microseconds. That is 69.8 times faster—roughly 70 times lower latency—than standard AES-CBC at 10.54 microseconds.</a:t>
            </a:r>
          </a:p>
          <a:p>
            <a:endParaRPr/>
          </a:p>
          <a:p>
            <a:r>
              <a:t>Why does this matter for the guests in the audience? In a Modbus RTU network with sub-millisecond scan cycles, an algorithm taking 10 microseconds per packet consumes significant CPU cycles on a 16 MHz microcontroller. At 0.15 microseconds, L-RAPID introduces practically zero delay, running comfortably on legacy hardware.</a:t>
            </a:r>
          </a:p>
          <a:p>
            <a:endParaRPr/>
          </a:p>
          <a:p>
            <a:r>
              <a:t>Notice also that every method achieved 100% exact numerical restoration. No distortion, zero error.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We also asked a practical engineering question: Do we really need to scramble all 16 bits of each register? What if a resource-constrained sensor only scrambles the lowest few bits?</a:t>
            </a:r>
          </a:p>
          <a:p>
            <a:endParaRPr/>
          </a:p>
          <a:p>
            <a:r>
              <a:t>To answer this, we conducted a parametric experiment, varying the bit-depth K across selected values from 1 to 16. Look at the plot on the right:</a:t>
            </a:r>
          </a:p>
          <a:p>
            <a:r>
              <a:t>When K is between 1 and 8 bits, the attacker's accuracy barely moves—it stays around 98%. Why? Because the top 8 bits of the register still carry enough operational structure for the AI to classify attacks.</a:t>
            </a:r>
          </a:p>
          <a:p>
            <a:endParaRPr/>
          </a:p>
          <a:p>
            <a:r>
              <a:t>However, once we cross K = 12 bits, the accuracy drops sharply to 75%, and by K = 14 and 16 bits, it completely collapses to 49.57%—the random guessing ceiling.</a:t>
            </a:r>
          </a:p>
          <a:p>
            <a:endParaRPr/>
          </a:p>
          <a:p>
            <a:r>
              <a:t>This establishes a crucial rule for industrial practitioners: to withstand an adaptive AI attacker, you must scramble all 16 bits.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Now let's ground this in reality: where can an industrial plant deploy this tomorrow?</a:t>
            </a:r>
          </a:p>
          <a:p>
            <a:endParaRPr/>
          </a:p>
          <a:p>
            <a:r>
              <a:t>Example 1: In municipal water treatment. Remote water pump stations transmit chemical dosing data over cellular. If attackers intercept it, they learn vulnerabilities. Permanent noise cannot be used because chlorine levels must be exact. L-RAPID scrambles data on low-power RTUs in 0.15 microseconds, and the central plant reverses it with 100% accuracy.</a:t>
            </a:r>
          </a:p>
          <a:p>
            <a:endParaRPr/>
          </a:p>
          <a:p>
            <a:r>
              <a:t>Example 2: In renewable power grids. Wind turbine substations have strict sub-millisecond control loops. Software AES causes packet buffers to fill up and drop packets, risking grid desynchronization. L-RAPID runs 70 times faster, introducing zero lag.</a:t>
            </a:r>
          </a:p>
          <a:p>
            <a:endParaRPr/>
          </a:p>
          <a:p>
            <a:r>
              <a:t>Example 3: In outsourced cloud predictive maintenance. Factories streaming machinery telemetry to AWS or Azure can protect their proprietary manufacturing recipes and production volume from corporate espionage.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An attentive reviewer might ask: 'If you publish your paper explaining that you pack 4 registers and use XOR, can't an attacker just reverse-engineer it?'</a:t>
            </a:r>
          </a:p>
          <a:p>
            <a:endParaRPr/>
          </a:p>
          <a:p>
            <a:r>
              <a:t>The answer lies in Kerckhoffs's Principle, the fundamental law of cybersecurity: a system must be secure even if everything about the algorithm is public, as long as the key is secret.</a:t>
            </a:r>
          </a:p>
          <a:p>
            <a:r>
              <a:t>Knowing that we use XOR gives the attacker zero information about the secret keystream K. Furthermore, our 64-bit packed word expands the search space to 18.4 quintillion states, making brute force impossible.</a:t>
            </a:r>
          </a:p>
          <a:p>
            <a:endParaRPr/>
          </a:p>
          <a:p>
            <a:r>
              <a:t>In our prototype, we used seed 999 for reproducibility. In our production roadmap, we replace this seed with ChaCha20 or ASCON-128a paired with a per-packet nonce, ensuring that every single Modbus packet gets a unique, unrepeatable key. We are currently preparing the full 10-page journal paper with hardware PLC deployments.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conclude, L-RAPID delivers three fundamental breakthroughs for legacy IIoT security:</a:t>
            </a:r>
          </a:p>
          <a:p>
            <a:r>
              <a:t>1. Sub-microsecond speed: executing in 0.15 microseconds per packet, roughly 70 times faster than AES-CBC.</a:t>
            </a:r>
          </a:p>
          <a:p>
            <a:r>
              <a:t>2. Resilient AI defense: suppressing both static and adaptive adversaries to ~50% random guessing.</a:t>
            </a:r>
          </a:p>
          <a:p>
            <a:r>
              <a:t>3. 100% exact numerical utility: restoring full telemetry fidelity for authorized cloud controllers without the destructive distortion of Differential Privacy.</a:t>
            </a:r>
          </a:p>
          <a:p>
            <a:endParaRPr/>
          </a:p>
          <a:p>
            <a:r>
              <a:t>This work was supported by the European Union under Erasmus Mundus CyberMACS and by TÜBİTAK-1001.</a:t>
            </a:r>
          </a:p>
          <a:p>
            <a:endParaRPr/>
          </a:p>
          <a:p>
            <a:r>
              <a:t>Thank you very much for your time and attention. I would now be delighted to answer any questions from the committee and the audience!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240"/>
        </a:solidFill>
        <a:effectLst/>
      </p:bgPr>
    </p:bg>
    <p:spTree>
      <p:nvGrpSpPr>
        <p:cNvPr id="1" name=""/>
        <p:cNvGrpSpPr/>
        <p:nvPr/>
      </p:nvGrpSpPr>
      <p:grpSpPr>
        <a:xfrm>
          <a:off x="0" y="0"/>
          <a:ext cx="0" cy="0"/>
          <a:chOff x="0" y="0"/>
          <a:chExt cx="0" cy="0"/>
        </a:xfrm>
      </p:grpSpPr>
      <p:sp>
        <p:nvSpPr>
          <p:cNvPr id="2" name="Rectangle 1"/>
          <p:cNvSpPr/>
          <p:nvPr/>
        </p:nvSpPr>
        <p:spPr>
          <a:xfrm>
            <a:off x="731520" y="1097280"/>
            <a:ext cx="137160" cy="438912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005840"/>
            <a:ext cx="10332720" cy="2926080"/>
          </a:xfrm>
          <a:prstGeom prst="rect">
            <a:avLst/>
          </a:prstGeom>
          <a:noFill/>
        </p:spPr>
        <p:txBody>
          <a:bodyPr wrap="square">
            <a:spAutoFit/>
          </a:bodyPr>
          <a:lstStyle/>
          <a:p>
            <a:pPr>
              <a:defRPr sz="1200" b="1">
                <a:solidFill>
                  <a:srgbClr val="0284C7"/>
                </a:solidFill>
                <a:latin typeface="Arial"/>
              </a:defRPr>
            </a:pPr>
            <a:r>
              <a:t>CYBERMACS INTERNATIONAL APPLIED CYBERSECURITY CONFERENCE &amp; SUMMER SCHOOL — 2026</a:t>
            </a:r>
          </a:p>
          <a:p>
            <a:pPr>
              <a:spcBef>
                <a:spcPts val="800"/>
              </a:spcBef>
              <a:defRPr sz="2800" b="1">
                <a:solidFill>
                  <a:srgbClr val="FFFFFF"/>
                </a:solidFill>
                <a:latin typeface="Arial"/>
              </a:defRPr>
            </a:pPr>
            <a:r>
              <a:t>L-RAPID: Lightweight Reversible And Privacy-Preserving IIoT Data-Perturbation System</a:t>
            </a:r>
          </a:p>
          <a:p>
            <a:pPr>
              <a:spcBef>
                <a:spcPts val="600"/>
              </a:spcBef>
              <a:defRPr sz="1600">
                <a:solidFill>
                  <a:srgbClr val="94A3B8"/>
                </a:solidFill>
                <a:latin typeface="Calibri"/>
              </a:defRPr>
            </a:pPr>
            <a:r>
              <a:t>High-Speed Packed Word-Parallel Obfuscation with Exact Numerical Utility for Legacy Modbus Telemetry</a:t>
            </a:r>
          </a:p>
        </p:txBody>
      </p:sp>
      <p:sp>
        <p:nvSpPr>
          <p:cNvPr id="4" name="Rounded Rectangle 3"/>
          <p:cNvSpPr/>
          <p:nvPr/>
        </p:nvSpPr>
        <p:spPr>
          <a:xfrm>
            <a:off x="1097280" y="4114800"/>
            <a:ext cx="10332720" cy="2011680"/>
          </a:xfrm>
          <a:prstGeom prst="round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lIns="365760" tIns="182880" rtlCol="0" anchor="ctr"/>
          <a:lstStyle/>
          <a:p>
            <a:pPr algn="ctr">
              <a:defRPr sz="1400" b="1">
                <a:solidFill>
                  <a:srgbClr val="FFFFFF"/>
                </a:solidFill>
                <a:latin typeface="Arial"/>
              </a:defRPr>
            </a:pPr>
            <a:r>
              <a:rPr dirty="0"/>
              <a:t>Authors:  Rabbi Hasan Himel, Tayyaba Basri, Hamza Haroon, Aditya Mitra</a:t>
            </a:r>
          </a:p>
          <a:p>
            <a:pPr>
              <a:spcBef>
                <a:spcPts val="400"/>
              </a:spcBef>
              <a:defRPr sz="1300">
                <a:solidFill>
                  <a:srgbClr val="38BDF8"/>
                </a:solidFill>
                <a:latin typeface="Calibri"/>
              </a:defRPr>
            </a:pPr>
            <a:r>
              <a:rPr dirty="0"/>
              <a:t>Supervisors:  Assoc. Prof. Dr. E. Fatih Yetkin, Asst. Prof. Dr. Tuğçe </a:t>
            </a:r>
            <a:r>
              <a:rPr dirty="0" err="1"/>
              <a:t>Ballı</a:t>
            </a:r>
            <a:endParaRPr dirty="0"/>
          </a:p>
          <a:p>
            <a:pPr>
              <a:spcBef>
                <a:spcPts val="600"/>
              </a:spcBef>
              <a:defRPr sz="1200">
                <a:solidFill>
                  <a:srgbClr val="94A3B8"/>
                </a:solidFill>
                <a:latin typeface="Calibri"/>
              </a:defRPr>
            </a:pPr>
            <a:r>
              <a:rPr dirty="0"/>
              <a:t>Kadir Has University, Istanbul, Türkiye  |  Erasmus Mundus </a:t>
            </a:r>
            <a:r>
              <a:rPr dirty="0" err="1"/>
              <a:t>CyberMACS</a:t>
            </a:r>
            <a:r>
              <a:rPr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BACKGROUND &amp; MOTIVATION</a:t>
            </a:r>
          </a:p>
          <a:p>
            <a:pPr>
              <a:defRPr sz="2200" b="1">
                <a:solidFill>
                  <a:srgbClr val="FFFFFF"/>
                </a:solidFill>
                <a:latin typeface="Arial"/>
              </a:defRPr>
            </a:pPr>
            <a:r>
              <a:t>The Problem: Cleartext Telemetry in Legacy Critical Infrastructure</a:t>
            </a:r>
          </a:p>
        </p:txBody>
      </p:sp>
      <p:sp>
        <p:nvSpPr>
          <p:cNvPr id="3" name="Rounded Rectangle 2"/>
          <p:cNvSpPr/>
          <p:nvPr/>
        </p:nvSpPr>
        <p:spPr>
          <a:xfrm>
            <a:off x="731520" y="1325880"/>
            <a:ext cx="3383280" cy="512064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1A365D"/>
                </a:solidFill>
                <a:latin typeface="Arial"/>
              </a:defRPr>
            </a:pPr>
            <a:r>
              <a:t>1. The 1979 Legacy</a:t>
            </a:r>
          </a:p>
          <a:p>
            <a:pPr>
              <a:spcBef>
                <a:spcPts val="800"/>
              </a:spcBef>
              <a:defRPr sz="1300">
                <a:solidFill>
                  <a:srgbClr val="0F172A"/>
                </a:solidFill>
                <a:latin typeface="Calibri"/>
              </a:defRPr>
            </a:pPr>
            <a:r>
              <a:t>• Modbus protocol was created in 1979 for serial networks.</a:t>
            </a:r>
          </a:p>
          <a:p>
            <a:pPr>
              <a:spcBef>
                <a:spcPts val="800"/>
              </a:spcBef>
              <a:defRPr sz="1300">
                <a:solidFill>
                  <a:srgbClr val="0F172A"/>
                </a:solidFill>
                <a:latin typeface="Calibri"/>
              </a:defRPr>
            </a:pPr>
            <a:r>
              <a:t>• Operates &gt;60% of modern industrial infrastructure (water plants, power grids, smart factories).</a:t>
            </a:r>
          </a:p>
          <a:p>
            <a:pPr>
              <a:spcBef>
                <a:spcPts val="800"/>
              </a:spcBef>
              <a:defRPr sz="1300">
                <a:solidFill>
                  <a:srgbClr val="0F172A"/>
                </a:solidFill>
                <a:latin typeface="Calibri"/>
              </a:defRPr>
            </a:pPr>
            <a:r>
              <a:t>• Zero encryption &amp; zero authentication by design.</a:t>
            </a:r>
          </a:p>
          <a:p>
            <a:pPr>
              <a:spcBef>
                <a:spcPts val="800"/>
              </a:spcBef>
              <a:defRPr sz="1300">
                <a:solidFill>
                  <a:srgbClr val="0F172A"/>
                </a:solidFill>
                <a:latin typeface="Calibri"/>
              </a:defRPr>
            </a:pPr>
            <a:r>
              <a:t>• Streams vital physical register telemetry (FC1–FC4) entirely in cleartext.</a:t>
            </a:r>
          </a:p>
          <a:p>
            <a:pPr>
              <a:spcBef>
                <a:spcPts val="800"/>
              </a:spcBef>
              <a:defRPr sz="1300">
                <a:solidFill>
                  <a:srgbClr val="0F172A"/>
                </a:solidFill>
                <a:latin typeface="Calibri"/>
              </a:defRPr>
            </a:pPr>
            <a:r>
              <a:t>• Replacing PLCs costs millions of dollars &amp; causes unacceptable downtime.</a:t>
            </a:r>
          </a:p>
        </p:txBody>
      </p:sp>
      <p:sp>
        <p:nvSpPr>
          <p:cNvPr id="4" name="Rounded Rectangle 3"/>
          <p:cNvSpPr/>
          <p:nvPr/>
        </p:nvSpPr>
        <p:spPr>
          <a:xfrm>
            <a:off x="4389120" y="1325880"/>
            <a:ext cx="3383280" cy="51206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D97706"/>
                </a:solidFill>
                <a:latin typeface="Arial"/>
              </a:defRPr>
            </a:pPr>
            <a:r>
              <a:t>2. The Security Threat</a:t>
            </a:r>
          </a:p>
          <a:p>
            <a:pPr>
              <a:spcBef>
                <a:spcPts val="800"/>
              </a:spcBef>
              <a:defRPr sz="1300">
                <a:solidFill>
                  <a:srgbClr val="0F172A"/>
                </a:solidFill>
                <a:latin typeface="Calibri"/>
              </a:defRPr>
            </a:pPr>
            <a:r>
              <a:t>• Man-in-the-Middle (MitM) wiretapping on industrial Ethernet / wireless gateways.</a:t>
            </a:r>
          </a:p>
          <a:p>
            <a:pPr>
              <a:spcBef>
                <a:spcPts val="800"/>
              </a:spcBef>
              <a:defRPr sz="1300">
                <a:solidFill>
                  <a:srgbClr val="0F172A"/>
                </a:solidFill>
                <a:latin typeface="Calibri"/>
              </a:defRPr>
            </a:pPr>
            <a:r>
              <a:t>• Telemetry contains discriminative signatures of system states.</a:t>
            </a:r>
          </a:p>
          <a:p>
            <a:pPr>
              <a:spcBef>
                <a:spcPts val="800"/>
              </a:spcBef>
              <a:defRPr sz="1300">
                <a:solidFill>
                  <a:srgbClr val="0F172A"/>
                </a:solidFill>
                <a:latin typeface="Calibri"/>
              </a:defRPr>
            </a:pPr>
            <a:r>
              <a:t>• Adversarial AI: Eavesdroppers train machine learning models on intercepted registers.</a:t>
            </a:r>
          </a:p>
          <a:p>
            <a:pPr>
              <a:spcBef>
                <a:spcPts val="800"/>
              </a:spcBef>
              <a:defRPr sz="1300">
                <a:solidFill>
                  <a:srgbClr val="0F172A"/>
                </a:solidFill>
                <a:latin typeface="Calibri"/>
              </a:defRPr>
            </a:pPr>
            <a:r>
              <a:t>• Corporate Espionage: Reverse-engineering proprietary recipes &amp; daily factory yield.</a:t>
            </a:r>
          </a:p>
          <a:p>
            <a:pPr>
              <a:spcBef>
                <a:spcPts val="800"/>
              </a:spcBef>
              <a:defRPr sz="1300">
                <a:solidFill>
                  <a:srgbClr val="0F172A"/>
                </a:solidFill>
                <a:latin typeface="Calibri"/>
              </a:defRPr>
            </a:pPr>
            <a:r>
              <a:t>• Physical Sabotage: Precursor reconnaissance for targeted Stuxnet-like attacks.</a:t>
            </a:r>
          </a:p>
        </p:txBody>
      </p:sp>
      <p:sp>
        <p:nvSpPr>
          <p:cNvPr id="5" name="Rounded Rectangle 4"/>
          <p:cNvSpPr/>
          <p:nvPr/>
        </p:nvSpPr>
        <p:spPr>
          <a:xfrm>
            <a:off x="8046720" y="1325880"/>
            <a:ext cx="3383280" cy="51206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0284C7"/>
                </a:solidFill>
                <a:latin typeface="Arial"/>
              </a:defRPr>
            </a:pPr>
            <a:r>
              <a:t>3. The Cloud Utility Need</a:t>
            </a:r>
          </a:p>
          <a:p>
            <a:pPr>
              <a:spcBef>
                <a:spcPts val="800"/>
              </a:spcBef>
              <a:defRPr sz="1300">
                <a:solidFill>
                  <a:srgbClr val="0F172A"/>
                </a:solidFill>
                <a:latin typeface="Calibri"/>
              </a:defRPr>
            </a:pPr>
            <a:r>
              <a:t>• Modern plants stream telemetry to the cloud for AI digital twins &amp; predictive maintenance.</a:t>
            </a:r>
          </a:p>
          <a:p>
            <a:pPr>
              <a:spcBef>
                <a:spcPts val="800"/>
              </a:spcBef>
              <a:defRPr sz="1300">
                <a:solidFill>
                  <a:srgbClr val="0F172A"/>
                </a:solidFill>
                <a:latin typeface="Calibri"/>
              </a:defRPr>
            </a:pPr>
            <a:r>
              <a:t>• Central control rooms require exact floating-point and integer measurements.</a:t>
            </a:r>
          </a:p>
          <a:p>
            <a:pPr>
              <a:spcBef>
                <a:spcPts val="800"/>
              </a:spcBef>
              <a:defRPr sz="1300">
                <a:solidFill>
                  <a:srgbClr val="0F172A"/>
                </a:solidFill>
                <a:latin typeface="Calibri"/>
              </a:defRPr>
            </a:pPr>
            <a:r>
              <a:t>• Noise cannot be permanent: a 1% distortion in pressure/chlorine can cause safety trips.</a:t>
            </a:r>
          </a:p>
          <a:p>
            <a:pPr>
              <a:spcBef>
                <a:spcPts val="800"/>
              </a:spcBef>
              <a:defRPr sz="1300">
                <a:solidFill>
                  <a:srgbClr val="0F172A"/>
                </a:solidFill>
                <a:latin typeface="Calibri"/>
              </a:defRPr>
            </a:pPr>
            <a:r>
              <a:t>• We must protect data in-transit while preserving 100% cloud utility.</a:t>
            </a:r>
          </a:p>
          <a:p>
            <a:pPr>
              <a:spcBef>
                <a:spcPts val="800"/>
              </a:spcBef>
              <a:defRPr sz="1300">
                <a:solidFill>
                  <a:srgbClr val="0F172A"/>
                </a:solidFill>
                <a:latin typeface="Calibri"/>
              </a:defRPr>
            </a:pPr>
            <a:r>
              <a:t>• Challenge: How to achieve both on 16-bit legacy microcontrollers?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RESEARCH GAP</a:t>
            </a:r>
          </a:p>
          <a:p>
            <a:pPr>
              <a:defRPr sz="2200" b="1">
                <a:solidFill>
                  <a:srgbClr val="FFFFFF"/>
                </a:solidFill>
                <a:latin typeface="Arial"/>
              </a:defRPr>
            </a:pPr>
            <a:r>
              <a:t>The Dilemma: Why Conventional Defenses Fail on Legacy IIoT</a:t>
            </a:r>
          </a:p>
        </p:txBody>
      </p:sp>
      <p:sp>
        <p:nvSpPr>
          <p:cNvPr id="3" name="Rounded Rectangle 2"/>
          <p:cNvSpPr/>
          <p:nvPr/>
        </p:nvSpPr>
        <p:spPr>
          <a:xfrm>
            <a:off x="731520" y="1371600"/>
            <a:ext cx="5120640" cy="411480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700" b="1">
                <a:solidFill>
                  <a:srgbClr val="DC2626"/>
                </a:solidFill>
                <a:latin typeface="Arial"/>
              </a:defRPr>
            </a:pPr>
            <a:r>
              <a:t>❌ Dilemma 1: Heavy Cryptography (AES / TLS)</a:t>
            </a:r>
          </a:p>
          <a:p>
            <a:pPr>
              <a:spcBef>
                <a:spcPts val="1000"/>
              </a:spcBef>
              <a:defRPr sz="1350">
                <a:solidFill>
                  <a:srgbClr val="0F172A"/>
                </a:solidFill>
                <a:latin typeface="Calibri"/>
              </a:defRPr>
            </a:pPr>
            <a:r>
              <a:t>• Hardware Bottleneck: Legacy 8-bit/16-bit PLCs (e.g. 16 MHz microcontrollers) lack AES-NI hardware acceleration.</a:t>
            </a:r>
          </a:p>
          <a:p>
            <a:pPr>
              <a:spcBef>
                <a:spcPts val="1000"/>
              </a:spcBef>
              <a:defRPr sz="1350">
                <a:solidFill>
                  <a:srgbClr val="0F172A"/>
                </a:solidFill>
                <a:latin typeface="Calibri"/>
              </a:defRPr>
            </a:pPr>
            <a:r>
              <a:t>• Latency Violation: Software AES-128 incurs ~10.5 µs per packet in streaming pipelines—violating strict sub-millisecond Modbus scan cycles.</a:t>
            </a:r>
          </a:p>
          <a:p>
            <a:pPr>
              <a:spcBef>
                <a:spcPts val="1000"/>
              </a:spcBef>
              <a:defRPr sz="1350">
                <a:solidFill>
                  <a:srgbClr val="0F172A"/>
                </a:solidFill>
                <a:latin typeface="Calibri"/>
              </a:defRPr>
            </a:pPr>
            <a:r>
              <a:t>• Memory &amp; Power: Heavy handshake overhead causes buffer exhaustion and dropped telemetry packets.</a:t>
            </a:r>
          </a:p>
          <a:p>
            <a:pPr>
              <a:spcBef>
                <a:spcPts val="1000"/>
              </a:spcBef>
              <a:defRPr sz="1350">
                <a:solidFill>
                  <a:srgbClr val="0F172A"/>
                </a:solidFill>
                <a:latin typeface="Calibri"/>
              </a:defRPr>
            </a:pPr>
            <a:r>
              <a:t>• Result: Impractical for real-time legacy edge devices.</a:t>
            </a:r>
          </a:p>
        </p:txBody>
      </p:sp>
      <p:sp>
        <p:nvSpPr>
          <p:cNvPr id="4" name="Rounded Rectangle 3"/>
          <p:cNvSpPr/>
          <p:nvPr/>
        </p:nvSpPr>
        <p:spPr>
          <a:xfrm>
            <a:off x="6309360" y="1371600"/>
            <a:ext cx="5120640" cy="41148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700" b="1">
                <a:solidFill>
                  <a:srgbClr val="D97706"/>
                </a:solidFill>
                <a:latin typeface="Arial"/>
              </a:defRPr>
            </a:pPr>
            <a:r>
              <a:t>❌ Dilemma 2: Differential Privacy (DP Noise)</a:t>
            </a:r>
          </a:p>
          <a:p>
            <a:pPr>
              <a:spcBef>
                <a:spcPts val="1000"/>
              </a:spcBef>
              <a:defRPr sz="1350">
                <a:solidFill>
                  <a:srgbClr val="0F172A"/>
                </a:solidFill>
                <a:latin typeface="Calibri"/>
              </a:defRPr>
            </a:pPr>
            <a:r>
              <a:t>• Irreversible Distortion: Conventional Gaussian or Laplacian noise permanently alters register values.</a:t>
            </a:r>
          </a:p>
          <a:p>
            <a:pPr>
              <a:spcBef>
                <a:spcPts val="1000"/>
              </a:spcBef>
              <a:defRPr sz="1350">
                <a:solidFill>
                  <a:srgbClr val="0F172A"/>
                </a:solidFill>
                <a:latin typeface="Calibri"/>
              </a:defRPr>
            </a:pPr>
            <a:r>
              <a:t>• Destruction of Utility: Safety-critical controllers and cloud anomaly detection systems receive corrupt data.</a:t>
            </a:r>
          </a:p>
          <a:p>
            <a:pPr>
              <a:spcBef>
                <a:spcPts val="1000"/>
              </a:spcBef>
              <a:defRPr sz="1350">
                <a:solidFill>
                  <a:srgbClr val="0F172A"/>
                </a:solidFill>
                <a:latin typeface="Calibri"/>
              </a:defRPr>
            </a:pPr>
            <a:r>
              <a:t>• High Operational Risk: A 1–2% error in temperature or pressure triggers false emergency trips or masks real leaks.</a:t>
            </a:r>
          </a:p>
          <a:p>
            <a:pPr>
              <a:spcBef>
                <a:spcPts val="1000"/>
              </a:spcBef>
              <a:defRPr sz="1350">
                <a:solidFill>
                  <a:srgbClr val="0F172A"/>
                </a:solidFill>
                <a:latin typeface="Calibri"/>
              </a:defRPr>
            </a:pPr>
            <a:r>
              <a:t>• Result: Unacceptable for high-precision industrial analytics.</a:t>
            </a:r>
          </a:p>
        </p:txBody>
      </p:sp>
      <p:sp>
        <p:nvSpPr>
          <p:cNvPr id="5" name="Rounded Rectangle 4"/>
          <p:cNvSpPr/>
          <p:nvPr/>
        </p:nvSpPr>
        <p:spPr>
          <a:xfrm>
            <a:off x="731520" y="5669280"/>
            <a:ext cx="10698480" cy="822960"/>
          </a:xfrm>
          <a:prstGeom prst="round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lIns="365760" tIns="137160" rtlCol="0" anchor="ctr"/>
          <a:lstStyle/>
          <a:p>
            <a:pPr algn="ctr">
              <a:defRPr sz="1400" b="1">
                <a:solidFill>
                  <a:srgbClr val="FFFFFF"/>
                </a:solidFill>
                <a:latin typeface="Arial"/>
              </a:defRPr>
            </a:pPr>
            <a:r>
              <a:t>💡 The Research Question: Can we achieve high-speed in-flight obfuscation on legacy microcontrollers while guaranteeing 100% exact numerical recovery for the cloud?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SYSTEM ARCHITECTURE</a:t>
            </a:r>
          </a:p>
          <a:p>
            <a:pPr>
              <a:defRPr sz="2200" b="1">
                <a:solidFill>
                  <a:srgbClr val="FFFFFF"/>
                </a:solidFill>
                <a:latin typeface="Arial"/>
              </a:defRPr>
            </a:pPr>
            <a:r>
              <a:t>L-RAPID: Lightweight Reversible Data Perturbation (RDP)</a:t>
            </a:r>
          </a:p>
        </p:txBody>
      </p:sp>
      <p:sp>
        <p:nvSpPr>
          <p:cNvPr id="3" name="Rounded Rectangle 2"/>
          <p:cNvSpPr/>
          <p:nvPr/>
        </p:nvSpPr>
        <p:spPr>
          <a:xfrm>
            <a:off x="731520" y="1371600"/>
            <a:ext cx="3291840" cy="393192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1A365D"/>
                </a:solidFill>
                <a:latin typeface="Arial"/>
              </a:defRPr>
            </a:pPr>
            <a:r>
              <a:t>1. Legacy Edge PLC</a:t>
            </a:r>
          </a:p>
          <a:p>
            <a:pPr>
              <a:spcBef>
                <a:spcPts val="800"/>
              </a:spcBef>
              <a:defRPr sz="1300">
                <a:solidFill>
                  <a:srgbClr val="0F172A"/>
                </a:solidFill>
                <a:latin typeface="Calibri"/>
              </a:defRPr>
            </a:pPr>
            <a:r>
              <a:t>• Modbus Registers: FC1, FC2, FC3, FC4.</a:t>
            </a:r>
          </a:p>
          <a:p>
            <a:pPr>
              <a:spcBef>
                <a:spcPts val="800"/>
              </a:spcBef>
              <a:defRPr sz="1300">
                <a:solidFill>
                  <a:srgbClr val="0F172A"/>
                </a:solidFill>
                <a:latin typeface="Calibri"/>
              </a:defRPr>
            </a:pPr>
            <a:r>
              <a:t>• Packs four 16-bit registers into a single 64-bit word.</a:t>
            </a:r>
          </a:p>
          <a:p>
            <a:pPr>
              <a:spcBef>
                <a:spcPts val="800"/>
              </a:spcBef>
              <a:defRPr sz="1300">
                <a:solidFill>
                  <a:srgbClr val="0F172A"/>
                </a:solidFill>
                <a:latin typeface="Calibri"/>
              </a:defRPr>
            </a:pPr>
            <a:r>
              <a:t>• Generates pseudorandom keystream block K from shared seed / state.</a:t>
            </a:r>
          </a:p>
          <a:p>
            <a:pPr>
              <a:spcBef>
                <a:spcPts val="800"/>
              </a:spcBef>
              <a:defRPr sz="1300">
                <a:solidFill>
                  <a:srgbClr val="0F172A"/>
                </a:solidFill>
                <a:latin typeface="Calibri"/>
              </a:defRPr>
            </a:pPr>
            <a:r>
              <a:t>• Applies packed word-parallel bitwise XOR: C = P ⊕ K.</a:t>
            </a:r>
          </a:p>
          <a:p>
            <a:pPr>
              <a:spcBef>
                <a:spcPts val="800"/>
              </a:spcBef>
              <a:defRPr sz="1300">
                <a:solidFill>
                  <a:srgbClr val="0F172A"/>
                </a:solidFill>
                <a:latin typeface="Calibri"/>
              </a:defRPr>
            </a:pPr>
            <a:r>
              <a:t>• Sub-microsecond execution (0.15 µs).</a:t>
            </a:r>
          </a:p>
        </p:txBody>
      </p:sp>
      <p:sp>
        <p:nvSpPr>
          <p:cNvPr id="4" name="Rounded Rectangle 3"/>
          <p:cNvSpPr/>
          <p:nvPr/>
        </p:nvSpPr>
        <p:spPr>
          <a:xfrm>
            <a:off x="4434840" y="1371600"/>
            <a:ext cx="3291840" cy="39319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D97706"/>
                </a:solidFill>
                <a:latin typeface="Arial"/>
              </a:defRPr>
            </a:pPr>
            <a:r>
              <a:t>2. Untrusted Wire / MitM</a:t>
            </a:r>
          </a:p>
          <a:p>
            <a:pPr>
              <a:spcBef>
                <a:spcPts val="800"/>
              </a:spcBef>
              <a:defRPr sz="1300">
                <a:solidFill>
                  <a:srgbClr val="0F172A"/>
                </a:solidFill>
                <a:latin typeface="Calibri"/>
              </a:defRPr>
            </a:pPr>
            <a:r>
              <a:t>• Wireless / Cellular / Internet link.</a:t>
            </a:r>
          </a:p>
          <a:p>
            <a:pPr>
              <a:spcBef>
                <a:spcPts val="800"/>
              </a:spcBef>
              <a:defRPr sz="1300">
                <a:solidFill>
                  <a:srgbClr val="0F172A"/>
                </a:solidFill>
                <a:latin typeface="Calibri"/>
              </a:defRPr>
            </a:pPr>
            <a:r>
              <a:t>• Eavesdropper intercepts scrambled telemetry stream.</a:t>
            </a:r>
          </a:p>
          <a:p>
            <a:pPr>
              <a:spcBef>
                <a:spcPts val="800"/>
              </a:spcBef>
              <a:defRPr sz="1300">
                <a:solidFill>
                  <a:srgbClr val="0F172A"/>
                </a:solidFill>
                <a:latin typeface="Calibri"/>
              </a:defRPr>
            </a:pPr>
            <a:r>
              <a:t>• Attacker sees uniform, high-entropy obfuscation.</a:t>
            </a:r>
          </a:p>
          <a:p>
            <a:pPr>
              <a:spcBef>
                <a:spcPts val="800"/>
              </a:spcBef>
              <a:defRPr sz="1300">
                <a:solidFill>
                  <a:srgbClr val="0F172A"/>
                </a:solidFill>
                <a:latin typeface="Calibri"/>
              </a:defRPr>
            </a:pPr>
            <a:r>
              <a:t>• Static ML IDS Accuracy: Drops to 48.8%.</a:t>
            </a:r>
          </a:p>
          <a:p>
            <a:pPr>
              <a:spcBef>
                <a:spcPts val="800"/>
              </a:spcBef>
              <a:defRPr sz="1300">
                <a:solidFill>
                  <a:srgbClr val="0F172A"/>
                </a:solidFill>
                <a:latin typeface="Calibri"/>
              </a:defRPr>
            </a:pPr>
            <a:r>
              <a:t>• Adaptive Retrained ML: Stuck at 49.9% (coin toss guessing).</a:t>
            </a:r>
          </a:p>
          <a:p>
            <a:pPr>
              <a:spcBef>
                <a:spcPts val="800"/>
              </a:spcBef>
              <a:defRPr sz="1300">
                <a:solidFill>
                  <a:srgbClr val="0F172A"/>
                </a:solidFill>
                <a:latin typeface="Calibri"/>
              </a:defRPr>
            </a:pPr>
            <a:r>
              <a:t>• Zero information leakage.</a:t>
            </a:r>
          </a:p>
        </p:txBody>
      </p:sp>
      <p:sp>
        <p:nvSpPr>
          <p:cNvPr id="5" name="Rounded Rectangle 4"/>
          <p:cNvSpPr/>
          <p:nvPr/>
        </p:nvSpPr>
        <p:spPr>
          <a:xfrm>
            <a:off x="8138160" y="1371600"/>
            <a:ext cx="3291840" cy="39319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0284C7"/>
                </a:solidFill>
                <a:latin typeface="Arial"/>
              </a:defRPr>
            </a:pPr>
            <a:r>
              <a:t>3. Authorized Cloud Ingestion</a:t>
            </a:r>
          </a:p>
          <a:p>
            <a:pPr>
              <a:spcBef>
                <a:spcPts val="800"/>
              </a:spcBef>
              <a:defRPr sz="1300">
                <a:solidFill>
                  <a:srgbClr val="0F172A"/>
                </a:solidFill>
                <a:latin typeface="Calibri"/>
              </a:defRPr>
            </a:pPr>
            <a:r>
              <a:t>• Shared synchronization state with Edge PLC.</a:t>
            </a:r>
          </a:p>
          <a:p>
            <a:pPr>
              <a:spcBef>
                <a:spcPts val="800"/>
              </a:spcBef>
              <a:defRPr sz="1300">
                <a:solidFill>
                  <a:srgbClr val="0F172A"/>
                </a:solidFill>
                <a:latin typeface="Calibri"/>
              </a:defRPr>
            </a:pPr>
            <a:r>
              <a:t>• Reconstructs identical keystream block K.</a:t>
            </a:r>
          </a:p>
          <a:p>
            <a:pPr>
              <a:spcBef>
                <a:spcPts val="800"/>
              </a:spcBef>
              <a:defRPr sz="1300">
                <a:solidFill>
                  <a:srgbClr val="0F172A"/>
                </a:solidFill>
                <a:latin typeface="Calibri"/>
              </a:defRPr>
            </a:pPr>
            <a:r>
              <a:t>• Self-Inverting Math: P = C ⊕ K.</a:t>
            </a:r>
          </a:p>
          <a:p>
            <a:pPr>
              <a:spcBef>
                <a:spcPts val="800"/>
              </a:spcBef>
              <a:defRPr sz="1300">
                <a:solidFill>
                  <a:srgbClr val="0F172A"/>
                </a:solidFill>
                <a:latin typeface="Calibri"/>
              </a:defRPr>
            </a:pPr>
            <a:r>
              <a:t>• 100.0% Exact Match Restoration (0 reconstruction error).</a:t>
            </a:r>
          </a:p>
          <a:p>
            <a:pPr>
              <a:spcBef>
                <a:spcPts val="800"/>
              </a:spcBef>
              <a:defRPr sz="1300">
                <a:solidFill>
                  <a:srgbClr val="0F172A"/>
                </a:solidFill>
                <a:latin typeface="Calibri"/>
              </a:defRPr>
            </a:pPr>
            <a:r>
              <a:t>• High-fidelity AI digital twins &amp; baseline 98.47% intrusion detection preserved.</a:t>
            </a:r>
          </a:p>
        </p:txBody>
      </p:sp>
      <p:sp>
        <p:nvSpPr>
          <p:cNvPr id="6" name="Rounded Rectangle 5"/>
          <p:cNvSpPr/>
          <p:nvPr/>
        </p:nvSpPr>
        <p:spPr>
          <a:xfrm>
            <a:off x="731520" y="5486400"/>
            <a:ext cx="10698480" cy="1005840"/>
          </a:xfrm>
          <a:prstGeom prst="roundRect">
            <a:avLst/>
          </a:prstGeom>
          <a:solidFill>
            <a:srgbClr val="EEF4F8"/>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365760" tIns="137160" rtlCol="0" anchor="ctr"/>
          <a:lstStyle/>
          <a:p>
            <a:pPr algn="ctr">
              <a:defRPr sz="1400" b="1">
                <a:solidFill>
                  <a:srgbClr val="1A365D"/>
                </a:solidFill>
                <a:latin typeface="Arial"/>
              </a:defRPr>
            </a:pPr>
            <a:r>
              <a:t>Mathematical Inversion Principle:   Ciphertext = Plaintext ⊕ Key   ⇒   Restored = (Plaintext ⊕ Key) ⊕ Key = Plaintext</a:t>
            </a:r>
          </a:p>
          <a:p>
            <a:pPr>
              <a:defRPr sz="1250">
                <a:solidFill>
                  <a:srgbClr val="475569"/>
                </a:solidFill>
                <a:latin typeface="Calibri"/>
              </a:defRPr>
            </a:pPr>
            <a:r>
              <a:t>Because XOR is self-inverting (involution), decryption requires zero algebraic overhead and guarantees bit-for-bit exact reconstruction.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CORE ARCHITECTURE</a:t>
            </a:r>
          </a:p>
          <a:p>
            <a:pPr>
              <a:defRPr sz="2200" b="1">
                <a:solidFill>
                  <a:srgbClr val="FFFFFF"/>
                </a:solidFill>
                <a:latin typeface="Arial"/>
              </a:defRPr>
            </a:pPr>
            <a:r>
              <a:t>Technical Innovation: Packed 64-Bit Word-Parallel Bit Manipulation</a:t>
            </a:r>
          </a:p>
        </p:txBody>
      </p:sp>
      <p:sp>
        <p:nvSpPr>
          <p:cNvPr id="3" name="Rounded Rectangle 2"/>
          <p:cNvSpPr/>
          <p:nvPr/>
        </p:nvSpPr>
        <p:spPr>
          <a:xfrm>
            <a:off x="731520" y="1371600"/>
            <a:ext cx="5486400" cy="502920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t>The Multi-Register Packing Operation</a:t>
            </a:r>
          </a:p>
          <a:p>
            <a:pPr>
              <a:spcBef>
                <a:spcPts val="400"/>
              </a:spcBef>
              <a:defRPr sz="1300" b="0">
                <a:solidFill>
                  <a:srgbClr val="0F172A"/>
                </a:solidFill>
                <a:latin typeface="Calibri"/>
              </a:defRPr>
            </a:pPr>
            <a:r>
              <a:t>Modbus packets stream multiple contiguous 16-bit registers in a single frame. In our setup, 4 registers = 64 bits.</a:t>
            </a:r>
          </a:p>
          <a:p>
            <a:pPr>
              <a:spcBef>
                <a:spcPts val="400"/>
              </a:spcBef>
              <a:defRPr sz="1300" b="0">
                <a:solidFill>
                  <a:srgbClr val="0F172A"/>
                </a:solidFill>
                <a:latin typeface="Calibri"/>
              </a:defRPr>
            </a:pPr>
            <a:r>
              <a:t>Traditional Approach (16-bit register-by-register):</a:t>
            </a:r>
          </a:p>
          <a:p>
            <a:pPr>
              <a:spcBef>
                <a:spcPts val="400"/>
              </a:spcBef>
              <a:defRPr sz="1300" b="0">
                <a:solidFill>
                  <a:srgbClr val="0F172A"/>
                </a:solidFill>
                <a:latin typeface="Calibri"/>
              </a:defRPr>
            </a:pPr>
            <a:r>
              <a:t>  • 4 separate memory loads + 4 separate XOR instructions + 4 stores.</a:t>
            </a:r>
          </a:p>
          <a:p>
            <a:pPr>
              <a:spcBef>
                <a:spcPts val="400"/>
              </a:spcBef>
              <a:defRPr sz="1300" b="0">
                <a:solidFill>
                  <a:srgbClr val="0F172A"/>
                </a:solidFill>
                <a:latin typeface="Calibri"/>
              </a:defRPr>
            </a:pPr>
            <a:r>
              <a:t>  • Execution latency: 1.48 µs per sample.</a:t>
            </a:r>
          </a:p>
          <a:p>
            <a:pPr>
              <a:spcBef>
                <a:spcPts val="400"/>
              </a:spcBef>
              <a:defRPr sz="1300" b="1">
                <a:solidFill>
                  <a:srgbClr val="0F172A"/>
                </a:solidFill>
                <a:latin typeface="Calibri"/>
              </a:defRPr>
            </a:pPr>
            <a:r>
              <a:t>Our Approach (Packed 64-Bit Word Parallelism):</a:t>
            </a:r>
          </a:p>
          <a:p>
            <a:pPr>
              <a:spcBef>
                <a:spcPts val="400"/>
              </a:spcBef>
              <a:defRPr sz="1150" b="0">
                <a:solidFill>
                  <a:srgbClr val="0284C7"/>
                </a:solidFill>
                <a:latin typeface="Consolas"/>
              </a:defRPr>
            </a:pPr>
            <a:r>
              <a:t>  uint64_t packed = ((uint64_t)FC1 &lt;&lt; 48) |</a:t>
            </a:r>
          </a:p>
          <a:p>
            <a:pPr>
              <a:spcBef>
                <a:spcPts val="400"/>
              </a:spcBef>
              <a:defRPr sz="1150" b="0">
                <a:solidFill>
                  <a:srgbClr val="0284C7"/>
                </a:solidFill>
                <a:latin typeface="Consolas"/>
              </a:defRPr>
            </a:pPr>
            <a:r>
              <a:t>                    ((uint64_t)FC2 &lt;&lt; 32) |</a:t>
            </a:r>
          </a:p>
          <a:p>
            <a:pPr>
              <a:spcBef>
                <a:spcPts val="400"/>
              </a:spcBef>
              <a:defRPr sz="1150" b="0">
                <a:solidFill>
                  <a:srgbClr val="0284C7"/>
                </a:solidFill>
                <a:latin typeface="Consolas"/>
              </a:defRPr>
            </a:pPr>
            <a:r>
              <a:t>                    ((uint64_t)FC3 &lt;&lt; 16) |</a:t>
            </a:r>
          </a:p>
          <a:p>
            <a:pPr>
              <a:spcBef>
                <a:spcPts val="400"/>
              </a:spcBef>
              <a:defRPr sz="1150" b="0">
                <a:solidFill>
                  <a:srgbClr val="0F172A"/>
                </a:solidFill>
                <a:latin typeface="Consolas"/>
              </a:defRPr>
            </a:pPr>
            <a:r>
              <a:t>                    ((uint64_t)FC4);</a:t>
            </a:r>
          </a:p>
          <a:p>
            <a:pPr>
              <a:spcBef>
                <a:spcPts val="400"/>
              </a:spcBef>
              <a:defRPr sz="1300" b="0">
                <a:solidFill>
                  <a:srgbClr val="0284C7"/>
                </a:solidFill>
                <a:latin typeface="Consolas"/>
              </a:defRPr>
            </a:pPr>
            <a:r>
              <a:t>  packed_perturbed = packed ^ keystream_64;</a:t>
            </a:r>
          </a:p>
          <a:p>
            <a:pPr>
              <a:spcBef>
                <a:spcPts val="400"/>
              </a:spcBef>
              <a:defRPr sz="1300" b="0">
                <a:solidFill>
                  <a:srgbClr val="0F172A"/>
                </a:solidFill>
                <a:latin typeface="Calibri"/>
              </a:defRPr>
            </a:pPr>
            <a:r>
              <a:t>• Single 64-bit CPU instruction operates on all 4 registers simultaneously!</a:t>
            </a:r>
          </a:p>
          <a:p>
            <a:pPr>
              <a:spcBef>
                <a:spcPts val="400"/>
              </a:spcBef>
              <a:defRPr sz="1300" b="1">
                <a:solidFill>
                  <a:srgbClr val="0284C7"/>
                </a:solidFill>
                <a:latin typeface="Calibri"/>
              </a:defRPr>
            </a:pPr>
            <a:r>
              <a:t>• Drops execution latency to 0.15 µs (a massive 10× speedup over 16-bit).</a:t>
            </a:r>
          </a:p>
        </p:txBody>
      </p:sp>
      <p:sp>
        <p:nvSpPr>
          <p:cNvPr id="4" name="Rounded Rectangle 3"/>
          <p:cNvSpPr/>
          <p:nvPr/>
        </p:nvSpPr>
        <p:spPr>
          <a:xfrm>
            <a:off x="6492240" y="1371600"/>
            <a:ext cx="4937760" cy="5029200"/>
          </a:xfrm>
          <a:prstGeom prst="roundRect">
            <a:avLst/>
          </a:prstGeom>
          <a:solidFill>
            <a:srgbClr val="EEF4F8"/>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t>Two Critical Architectural Nuances</a:t>
            </a:r>
          </a:p>
          <a:p>
            <a:pPr>
              <a:spcBef>
                <a:spcPts val="400"/>
              </a:spcBef>
              <a:defRPr sz="1250" b="1">
                <a:solidFill>
                  <a:srgbClr val="1A365D"/>
                </a:solidFill>
                <a:latin typeface="Calibri"/>
              </a:defRPr>
            </a:pPr>
            <a:r>
              <a:t>1. Word Parallelism vs. Cryptographic Diffusion:</a:t>
            </a:r>
          </a:p>
          <a:p>
            <a:pPr>
              <a:spcBef>
                <a:spcPts val="400"/>
              </a:spcBef>
              <a:defRPr sz="1250" b="0">
                <a:solidFill>
                  <a:srgbClr val="0F172A"/>
                </a:solidFill>
                <a:latin typeface="Calibri"/>
              </a:defRPr>
            </a:pPr>
            <a:r>
              <a:t>• Why is it 10× faster? It leverages word-level SIMD/register parallelism in the CPU.</a:t>
            </a:r>
          </a:p>
          <a:p>
            <a:pPr>
              <a:spcBef>
                <a:spcPts val="400"/>
              </a:spcBef>
              <a:defRPr sz="1250" b="0">
                <a:solidFill>
                  <a:srgbClr val="0F172A"/>
                </a:solidFill>
                <a:latin typeface="Calibri"/>
              </a:defRPr>
            </a:pPr>
            <a:r>
              <a:t>• Important nuance: Bitwise XOR does NOT diffuse bits across register boundaries. Each register is perturbed by its corresponding 16 bits of the 64-bit word.</a:t>
            </a:r>
          </a:p>
          <a:p>
            <a:pPr>
              <a:spcBef>
                <a:spcPts val="400"/>
              </a:spcBef>
              <a:defRPr sz="1250" b="0">
                <a:solidFill>
                  <a:srgbClr val="0F172A"/>
                </a:solidFill>
                <a:latin typeface="Calibri"/>
              </a:defRPr>
            </a:pPr>
            <a:r>
              <a:t>• We do not overclaim cryptographic diffusion; the advantage is architectural throughput.</a:t>
            </a:r>
          </a:p>
          <a:p>
            <a:pPr>
              <a:spcBef>
                <a:spcPts val="400"/>
              </a:spcBef>
              <a:defRPr sz="1250" b="0">
                <a:solidFill>
                  <a:srgbClr val="0F172A"/>
                </a:solidFill>
                <a:latin typeface="Calibri"/>
              </a:defRPr>
            </a:pPr>
            <a:endParaRPr/>
          </a:p>
          <a:p>
            <a:pPr>
              <a:spcBef>
                <a:spcPts val="400"/>
              </a:spcBef>
              <a:defRPr sz="1250" b="1">
                <a:solidFill>
                  <a:srgbClr val="1A365D"/>
                </a:solidFill>
                <a:latin typeface="Calibri"/>
              </a:defRPr>
            </a:pPr>
            <a:r>
              <a:t>2. Masking Domain vs. Key Space:</a:t>
            </a:r>
          </a:p>
          <a:p>
            <a:pPr>
              <a:spcBef>
                <a:spcPts val="400"/>
              </a:spcBef>
              <a:defRPr sz="1250" b="0">
                <a:solidFill>
                  <a:srgbClr val="0F172A"/>
                </a:solidFill>
                <a:latin typeface="Calibri"/>
              </a:defRPr>
            </a:pPr>
            <a:r>
              <a:t>• The 64-bit approach operates over a packed 64-bit masking domain (2^64 states ≈ 1.84 × 10^19 combinations).</a:t>
            </a:r>
          </a:p>
          <a:p>
            <a:pPr>
              <a:spcBef>
                <a:spcPts val="400"/>
              </a:spcBef>
              <a:defRPr sz="1250" b="0">
                <a:solidFill>
                  <a:srgbClr val="0F172A"/>
                </a:solidFill>
                <a:latin typeface="Calibri"/>
              </a:defRPr>
            </a:pPr>
            <a:r>
              <a:t>• In this prototype, the keystream is derived deterministically from a shared PRNG seed (999).</a:t>
            </a:r>
          </a:p>
          <a:p>
            <a:pPr>
              <a:spcBef>
                <a:spcPts val="400"/>
              </a:spcBef>
              <a:defRPr sz="1250" b="0">
                <a:solidFill>
                  <a:srgbClr val="0F172A"/>
                </a:solidFill>
                <a:latin typeface="Calibri"/>
              </a:defRPr>
            </a:pPr>
            <a:r>
              <a:t>• In production, this domain is paired with dynamic stream ciphers (ChaCha20/ASCON) and per-packet nonces.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DATASET &amp; BASELINE ML</a:t>
            </a:r>
          </a:p>
          <a:p>
            <a:pPr>
              <a:defRPr sz="2200" b="1">
                <a:solidFill>
                  <a:srgbClr val="FFFFFF"/>
                </a:solidFill>
                <a:latin typeface="Arial"/>
              </a:defRPr>
            </a:pPr>
            <a:r>
              <a:t>Experimental Setup: ToN_IoT Modbus Industrial Dataset</a:t>
            </a:r>
          </a:p>
        </p:txBody>
      </p:sp>
      <p:sp>
        <p:nvSpPr>
          <p:cNvPr id="3" name="Rounded Rectangle 2"/>
          <p:cNvSpPr/>
          <p:nvPr/>
        </p:nvSpPr>
        <p:spPr>
          <a:xfrm>
            <a:off x="731520" y="1255853"/>
            <a:ext cx="5120640" cy="5486399"/>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rPr sz="1400" dirty="0"/>
              <a:t>The </a:t>
            </a:r>
            <a:r>
              <a:rPr sz="1400" dirty="0" err="1"/>
              <a:t>ToN_IoT</a:t>
            </a:r>
            <a:r>
              <a:rPr sz="1400" dirty="0"/>
              <a:t> Modbus Benchmark</a:t>
            </a:r>
          </a:p>
          <a:p>
            <a:pPr>
              <a:spcBef>
                <a:spcPts val="400"/>
              </a:spcBef>
              <a:defRPr sz="1300">
                <a:solidFill>
                  <a:srgbClr val="0F172A"/>
                </a:solidFill>
                <a:latin typeface="Calibri"/>
              </a:defRPr>
            </a:pPr>
            <a:r>
              <a:rPr sz="1400" dirty="0"/>
              <a:t>• Benchmark Dataset: Modbus telemetry subset of the </a:t>
            </a:r>
            <a:r>
              <a:rPr sz="1400" dirty="0" err="1"/>
              <a:t>ToN_IoT</a:t>
            </a:r>
            <a:r>
              <a:rPr sz="1400" dirty="0"/>
              <a:t> dataset (Nour Moustafa, IEEE </a:t>
            </a:r>
            <a:r>
              <a:rPr sz="1400" dirty="0" err="1"/>
              <a:t>Dataport</a:t>
            </a:r>
            <a:r>
              <a:rPr sz="1400" dirty="0"/>
              <a:t> 2019).</a:t>
            </a:r>
          </a:p>
          <a:p>
            <a:pPr>
              <a:spcBef>
                <a:spcPts val="400"/>
              </a:spcBef>
              <a:defRPr sz="1300">
                <a:solidFill>
                  <a:srgbClr val="0F172A"/>
                </a:solidFill>
                <a:latin typeface="Calibri"/>
              </a:defRPr>
            </a:pPr>
            <a:r>
              <a:rPr sz="1400" dirty="0"/>
              <a:t>• Total Records: 31,106 samples representing real industrial SCADA / IoT traffic.</a:t>
            </a:r>
          </a:p>
          <a:p>
            <a:pPr>
              <a:spcBef>
                <a:spcPts val="400"/>
              </a:spcBef>
              <a:defRPr sz="1300">
                <a:solidFill>
                  <a:srgbClr val="0F172A"/>
                </a:solidFill>
                <a:latin typeface="Calibri"/>
              </a:defRPr>
            </a:pPr>
            <a:r>
              <a:rPr sz="1400" dirty="0"/>
              <a:t>• Class Balance: 15,000 Normal (48.2%) vs. 16,106 Attack (51.8%).</a:t>
            </a:r>
          </a:p>
          <a:p>
            <a:pPr>
              <a:spcBef>
                <a:spcPts val="400"/>
              </a:spcBef>
              <a:defRPr sz="1300">
                <a:solidFill>
                  <a:srgbClr val="0F172A"/>
                </a:solidFill>
                <a:latin typeface="Calibri"/>
              </a:defRPr>
            </a:pPr>
            <a:r>
              <a:rPr sz="1400" dirty="0"/>
              <a:t>• 5 Attack Categories: Scanning, Backdoor, Injection, XSS, and Password attacks.</a:t>
            </a:r>
          </a:p>
          <a:p>
            <a:pPr>
              <a:spcBef>
                <a:spcPts val="400"/>
              </a:spcBef>
              <a:defRPr sz="1300">
                <a:solidFill>
                  <a:srgbClr val="0F172A"/>
                </a:solidFill>
                <a:latin typeface="Calibri"/>
              </a:defRPr>
            </a:pPr>
            <a:r>
              <a:rPr sz="1400" dirty="0"/>
              <a:t>• Telemetry Features: 4 Modbus Function Codes:</a:t>
            </a:r>
          </a:p>
          <a:p>
            <a:pPr>
              <a:spcBef>
                <a:spcPts val="400"/>
              </a:spcBef>
              <a:defRPr sz="1300">
                <a:solidFill>
                  <a:srgbClr val="0F172A"/>
                </a:solidFill>
                <a:latin typeface="Calibri"/>
              </a:defRPr>
            </a:pPr>
            <a:r>
              <a:rPr sz="1400" dirty="0"/>
              <a:t>    - FC1: Read Input Register (Analog sensor)</a:t>
            </a:r>
          </a:p>
          <a:p>
            <a:pPr>
              <a:spcBef>
                <a:spcPts val="400"/>
              </a:spcBef>
              <a:defRPr sz="1300">
                <a:solidFill>
                  <a:srgbClr val="0F172A"/>
                </a:solidFill>
                <a:latin typeface="Calibri"/>
              </a:defRPr>
            </a:pPr>
            <a:r>
              <a:rPr sz="1400" dirty="0"/>
              <a:t>    - FC2: Read Discrete Value (Binary switch)</a:t>
            </a:r>
          </a:p>
          <a:p>
            <a:pPr>
              <a:spcBef>
                <a:spcPts val="400"/>
              </a:spcBef>
              <a:defRPr sz="1300">
                <a:solidFill>
                  <a:srgbClr val="0F172A"/>
                </a:solidFill>
                <a:latin typeface="Calibri"/>
              </a:defRPr>
            </a:pPr>
            <a:r>
              <a:rPr sz="1400" dirty="0"/>
              <a:t>    - FC3: Read Holding Register (Config parameter)</a:t>
            </a:r>
          </a:p>
          <a:p>
            <a:pPr>
              <a:spcBef>
                <a:spcPts val="400"/>
              </a:spcBef>
              <a:defRPr sz="1300">
                <a:solidFill>
                  <a:srgbClr val="0F172A"/>
                </a:solidFill>
                <a:latin typeface="Calibri"/>
              </a:defRPr>
            </a:pPr>
            <a:r>
              <a:rPr sz="1400" dirty="0"/>
              <a:t>    - FC4: Read Coil (Actuator state)</a:t>
            </a:r>
          </a:p>
          <a:p>
            <a:pPr>
              <a:spcBef>
                <a:spcPts val="400"/>
              </a:spcBef>
              <a:defRPr sz="1300">
                <a:solidFill>
                  <a:srgbClr val="0F172A"/>
                </a:solidFill>
                <a:latin typeface="Calibri"/>
              </a:defRPr>
            </a:pPr>
            <a:r>
              <a:rPr sz="1400" dirty="0"/>
              <a:t>• Data Format: Native 16-bit unsigned integers (uint16, 0–65,535).</a:t>
            </a:r>
          </a:p>
        </p:txBody>
      </p:sp>
      <p:sp>
        <p:nvSpPr>
          <p:cNvPr id="4" name="Rounded Rectangle 3"/>
          <p:cNvSpPr/>
          <p:nvPr/>
        </p:nvSpPr>
        <p:spPr>
          <a:xfrm>
            <a:off x="6217920" y="1255853"/>
            <a:ext cx="5212080" cy="5486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0284C7"/>
                </a:solidFill>
                <a:latin typeface="Arial"/>
              </a:defRPr>
            </a:pPr>
            <a:r>
              <a:rPr dirty="0"/>
              <a:t>Clean Baseline Anomaly Detection</a:t>
            </a:r>
          </a:p>
          <a:p>
            <a:pPr>
              <a:spcBef>
                <a:spcPts val="400"/>
              </a:spcBef>
              <a:defRPr sz="1250" b="1">
                <a:solidFill>
                  <a:srgbClr val="1A365D"/>
                </a:solidFill>
                <a:latin typeface="Calibri"/>
              </a:defRPr>
            </a:pPr>
            <a:r>
              <a:rPr sz="1400" dirty="0"/>
              <a:t>Machine Learning Classifier Setup:</a:t>
            </a:r>
          </a:p>
          <a:p>
            <a:pPr>
              <a:spcBef>
                <a:spcPts val="400"/>
              </a:spcBef>
              <a:defRPr sz="1250" b="0">
                <a:solidFill>
                  <a:srgbClr val="0F172A"/>
                </a:solidFill>
                <a:latin typeface="Calibri"/>
              </a:defRPr>
            </a:pPr>
            <a:r>
              <a:rPr sz="1400" dirty="0"/>
              <a:t>• Random Forest Classifier (</a:t>
            </a:r>
            <a:r>
              <a:rPr sz="1400" dirty="0" err="1"/>
              <a:t>n_estimators</a:t>
            </a:r>
            <a:r>
              <a:rPr sz="1400" dirty="0"/>
              <a:t>=100, </a:t>
            </a:r>
            <a:r>
              <a:rPr sz="1400" dirty="0" err="1"/>
              <a:t>class_weight</a:t>
            </a:r>
            <a:r>
              <a:rPr sz="1400" dirty="0"/>
              <a:t>='balanced', </a:t>
            </a:r>
            <a:r>
              <a:rPr sz="1400" dirty="0" err="1"/>
              <a:t>random_state</a:t>
            </a:r>
            <a:r>
              <a:rPr sz="1400" dirty="0"/>
              <a:t>=42).</a:t>
            </a:r>
          </a:p>
          <a:p>
            <a:pPr>
              <a:spcBef>
                <a:spcPts val="400"/>
              </a:spcBef>
              <a:defRPr sz="1250" b="0">
                <a:solidFill>
                  <a:srgbClr val="0F172A"/>
                </a:solidFill>
                <a:latin typeface="Calibri"/>
              </a:defRPr>
            </a:pPr>
            <a:r>
              <a:rPr sz="1400" dirty="0"/>
              <a:t>• 80/20 Stratified Train/Test Split (24,884 train / 6,222 test samples).</a:t>
            </a:r>
          </a:p>
          <a:p>
            <a:pPr>
              <a:spcBef>
                <a:spcPts val="400"/>
              </a:spcBef>
              <a:defRPr sz="1250" b="0">
                <a:solidFill>
                  <a:srgbClr val="0F172A"/>
                </a:solidFill>
                <a:latin typeface="Calibri"/>
              </a:defRPr>
            </a:pPr>
            <a:endParaRPr sz="1400" dirty="0"/>
          </a:p>
          <a:p>
            <a:pPr>
              <a:spcBef>
                <a:spcPts val="400"/>
              </a:spcBef>
              <a:defRPr sz="1250" b="0">
                <a:solidFill>
                  <a:srgbClr val="0F172A"/>
                </a:solidFill>
                <a:latin typeface="Calibri"/>
              </a:defRPr>
            </a:pPr>
            <a:r>
              <a:rPr sz="1400" dirty="0"/>
              <a:t>Baseline Classification Performance (Clean Data):</a:t>
            </a:r>
          </a:p>
          <a:p>
            <a:pPr>
              <a:spcBef>
                <a:spcPts val="400"/>
              </a:spcBef>
              <a:defRPr sz="1250" b="1">
                <a:solidFill>
                  <a:srgbClr val="0F172A"/>
                </a:solidFill>
                <a:latin typeface="Calibri"/>
              </a:defRPr>
            </a:pPr>
            <a:r>
              <a:rPr sz="1400" dirty="0"/>
              <a:t>• Binary Accuracy: 98.47%</a:t>
            </a:r>
          </a:p>
          <a:p>
            <a:pPr>
              <a:spcBef>
                <a:spcPts val="400"/>
              </a:spcBef>
              <a:defRPr sz="1250" b="0">
                <a:solidFill>
                  <a:srgbClr val="0F172A"/>
                </a:solidFill>
                <a:latin typeface="Calibri"/>
              </a:defRPr>
            </a:pPr>
            <a:r>
              <a:rPr sz="1400" dirty="0"/>
              <a:t>• Weighted F1-Score: 0.9847</a:t>
            </a:r>
          </a:p>
          <a:p>
            <a:pPr>
              <a:spcBef>
                <a:spcPts val="400"/>
              </a:spcBef>
              <a:defRPr sz="1250" b="0">
                <a:solidFill>
                  <a:srgbClr val="0F172A"/>
                </a:solidFill>
                <a:latin typeface="Calibri"/>
              </a:defRPr>
            </a:pPr>
            <a:r>
              <a:rPr sz="1400" dirty="0"/>
              <a:t>• Test Set Errors: Only 16 False Positives and 79 False Negatives out of 6,222 samples!</a:t>
            </a:r>
          </a:p>
          <a:p>
            <a:pPr>
              <a:spcBef>
                <a:spcPts val="400"/>
              </a:spcBef>
              <a:defRPr sz="1250" b="0">
                <a:solidFill>
                  <a:srgbClr val="0F172A"/>
                </a:solidFill>
                <a:latin typeface="Calibri"/>
              </a:defRPr>
            </a:pPr>
            <a:endParaRPr sz="1400" dirty="0"/>
          </a:p>
          <a:p>
            <a:pPr>
              <a:spcBef>
                <a:spcPts val="400"/>
              </a:spcBef>
              <a:defRPr sz="1250" b="1">
                <a:solidFill>
                  <a:srgbClr val="1A365D"/>
                </a:solidFill>
                <a:latin typeface="Calibri"/>
              </a:defRPr>
            </a:pPr>
            <a:r>
              <a:rPr sz="1400" dirty="0"/>
              <a:t>Key Scientific Finding:</a:t>
            </a:r>
          </a:p>
          <a:p>
            <a:pPr>
              <a:spcBef>
                <a:spcPts val="400"/>
              </a:spcBef>
              <a:defRPr sz="1250" b="0">
                <a:solidFill>
                  <a:srgbClr val="0F172A"/>
                </a:solidFill>
                <a:latin typeface="Calibri"/>
              </a:defRPr>
            </a:pPr>
            <a:r>
              <a:rPr sz="1400" dirty="0"/>
              <a:t>• Unperturbed Modbus telemetry contains a highly exploitable discriminative structure.</a:t>
            </a:r>
          </a:p>
          <a:p>
            <a:pPr>
              <a:spcBef>
                <a:spcPts val="400"/>
              </a:spcBef>
              <a:defRPr sz="1250" b="0">
                <a:solidFill>
                  <a:srgbClr val="0F172A"/>
                </a:solidFill>
                <a:latin typeface="Calibri"/>
              </a:defRPr>
            </a:pPr>
            <a:r>
              <a:rPr sz="1400" dirty="0"/>
              <a:t>• Eavesdroppers can effortlessly detect system attacks and operational status.</a:t>
            </a:r>
          </a:p>
          <a:p>
            <a:pPr>
              <a:spcBef>
                <a:spcPts val="400"/>
              </a:spcBef>
              <a:defRPr sz="1250" b="0">
                <a:solidFill>
                  <a:srgbClr val="0F172A"/>
                </a:solidFill>
                <a:latin typeface="Calibri"/>
              </a:defRPr>
            </a:pPr>
            <a:r>
              <a:rPr sz="1400" dirty="0"/>
              <a:t>• Conclusively justifies the necessity of in-transit perturbation!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SECURITY EVALUATION</a:t>
            </a:r>
          </a:p>
          <a:p>
            <a:pPr>
              <a:defRPr sz="2200" b="1">
                <a:solidFill>
                  <a:srgbClr val="FFFFFF"/>
                </a:solidFill>
                <a:latin typeface="Arial"/>
              </a:defRPr>
            </a:pPr>
            <a:r>
              <a:t>Adversarial Machine Learning: Static vs. Adaptive Adversary</a:t>
            </a:r>
          </a:p>
        </p:txBody>
      </p:sp>
      <p:sp>
        <p:nvSpPr>
          <p:cNvPr id="3" name="Rounded Rectangle 2"/>
          <p:cNvSpPr/>
          <p:nvPr/>
        </p:nvSpPr>
        <p:spPr>
          <a:xfrm>
            <a:off x="1062169" y="1261640"/>
            <a:ext cx="10067661" cy="5411165"/>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rPr dirty="0"/>
              <a:t>Two Adversary Threat Models</a:t>
            </a:r>
          </a:p>
          <a:p>
            <a:pPr>
              <a:spcBef>
                <a:spcPts val="300"/>
              </a:spcBef>
              <a:defRPr sz="1200" b="1">
                <a:solidFill>
                  <a:srgbClr val="1A365D"/>
                </a:solidFill>
                <a:latin typeface="Calibri"/>
              </a:defRPr>
            </a:pPr>
            <a:r>
              <a:rPr sz="1600" dirty="0"/>
              <a:t>Threat Model 1: Static Adversary (Distribution Shift)</a:t>
            </a:r>
          </a:p>
          <a:p>
            <a:pPr>
              <a:spcBef>
                <a:spcPts val="300"/>
              </a:spcBef>
              <a:defRPr sz="1200" b="0">
                <a:solidFill>
                  <a:srgbClr val="0F172A"/>
                </a:solidFill>
                <a:latin typeface="Calibri"/>
              </a:defRPr>
            </a:pPr>
            <a:r>
              <a:rPr sz="1600" dirty="0"/>
              <a:t>• Attacker deploys a pre-trained IDS trained on clean historical data.</a:t>
            </a:r>
          </a:p>
          <a:p>
            <a:pPr>
              <a:spcBef>
                <a:spcPts val="300"/>
              </a:spcBef>
              <a:defRPr sz="1200" b="0">
                <a:solidFill>
                  <a:srgbClr val="0F172A"/>
                </a:solidFill>
                <a:latin typeface="Calibri"/>
              </a:defRPr>
            </a:pPr>
            <a:r>
              <a:rPr sz="1600" dirty="0"/>
              <a:t>• Evaluated directly on intercepted perturbed telemetry.</a:t>
            </a:r>
          </a:p>
          <a:p>
            <a:pPr>
              <a:spcBef>
                <a:spcPts val="300"/>
              </a:spcBef>
              <a:defRPr sz="1200" b="0">
                <a:solidFill>
                  <a:srgbClr val="0F172A"/>
                </a:solidFill>
                <a:latin typeface="Calibri"/>
              </a:defRPr>
            </a:pPr>
            <a:r>
              <a:rPr sz="1600" dirty="0"/>
              <a:t>• Attacker accuracy collapses: 98.47%  ➔  48.8%.</a:t>
            </a:r>
          </a:p>
          <a:p>
            <a:pPr>
              <a:spcBef>
                <a:spcPts val="300"/>
              </a:spcBef>
              <a:defRPr sz="1200" b="0">
                <a:solidFill>
                  <a:srgbClr val="0F172A"/>
                </a:solidFill>
                <a:latin typeface="Calibri"/>
              </a:defRPr>
            </a:pPr>
            <a:r>
              <a:rPr sz="1600" dirty="0"/>
              <a:t>• Question: Is this collapse just an out-of-distribution artifact?</a:t>
            </a:r>
          </a:p>
          <a:p>
            <a:pPr>
              <a:spcBef>
                <a:spcPts val="300"/>
              </a:spcBef>
              <a:defRPr sz="1200" b="0">
                <a:solidFill>
                  <a:srgbClr val="0F172A"/>
                </a:solidFill>
                <a:latin typeface="Calibri"/>
              </a:defRPr>
            </a:pPr>
            <a:endParaRPr sz="1600" dirty="0"/>
          </a:p>
          <a:p>
            <a:pPr>
              <a:spcBef>
                <a:spcPts val="300"/>
              </a:spcBef>
              <a:defRPr sz="1200" b="1">
                <a:solidFill>
                  <a:srgbClr val="D97706"/>
                </a:solidFill>
                <a:latin typeface="Calibri"/>
              </a:defRPr>
            </a:pPr>
            <a:r>
              <a:rPr sz="1600" dirty="0"/>
              <a:t>Threat Model 2: Adaptive Adversary (Active Retraining)</a:t>
            </a:r>
          </a:p>
          <a:p>
            <a:pPr>
              <a:spcBef>
                <a:spcPts val="300"/>
              </a:spcBef>
              <a:defRPr sz="1200" b="0">
                <a:solidFill>
                  <a:srgbClr val="0F172A"/>
                </a:solidFill>
                <a:latin typeface="Calibri"/>
              </a:defRPr>
            </a:pPr>
            <a:r>
              <a:rPr sz="1600" dirty="0"/>
              <a:t>• Addressing Reviewer 2's exact challenge!</a:t>
            </a:r>
          </a:p>
          <a:p>
            <a:pPr>
              <a:spcBef>
                <a:spcPts val="300"/>
              </a:spcBef>
              <a:defRPr sz="1200" b="0">
                <a:solidFill>
                  <a:srgbClr val="0F172A"/>
                </a:solidFill>
                <a:latin typeface="Calibri"/>
              </a:defRPr>
            </a:pPr>
            <a:r>
              <a:rPr sz="1600" dirty="0"/>
              <a:t>• Attacker intercepts perturbed telemetry AND has ground-truth labels for an 80% training split.</a:t>
            </a:r>
          </a:p>
          <a:p>
            <a:pPr>
              <a:spcBef>
                <a:spcPts val="300"/>
              </a:spcBef>
              <a:defRPr sz="1200" b="0">
                <a:solidFill>
                  <a:srgbClr val="0F172A"/>
                </a:solidFill>
                <a:latin typeface="Calibri"/>
              </a:defRPr>
            </a:pPr>
            <a:r>
              <a:rPr sz="1600" dirty="0"/>
              <a:t>• Attacker retrains a brand-new Random Forest directly on perturbed values.</a:t>
            </a:r>
          </a:p>
          <a:p>
            <a:pPr>
              <a:spcBef>
                <a:spcPts val="300"/>
              </a:spcBef>
              <a:defRPr sz="1200" b="1">
                <a:solidFill>
                  <a:srgbClr val="0F172A"/>
                </a:solidFill>
                <a:latin typeface="Calibri"/>
              </a:defRPr>
            </a:pPr>
            <a:r>
              <a:rPr sz="1600" dirty="0"/>
              <a:t>• Result: Accuracy remains locked at 49.9% (coin toss guessing)!</a:t>
            </a:r>
          </a:p>
          <a:p>
            <a:pPr>
              <a:spcBef>
                <a:spcPts val="300"/>
              </a:spcBef>
              <a:defRPr sz="1200" b="0">
                <a:solidFill>
                  <a:srgbClr val="0F172A"/>
                </a:solidFill>
                <a:latin typeface="Calibri"/>
              </a:defRPr>
            </a:pPr>
            <a:endParaRPr sz="1600" dirty="0"/>
          </a:p>
          <a:p>
            <a:pPr>
              <a:spcBef>
                <a:spcPts val="300"/>
              </a:spcBef>
              <a:defRPr sz="1200" b="1">
                <a:solidFill>
                  <a:srgbClr val="1A365D"/>
                </a:solidFill>
                <a:latin typeface="Calibri"/>
              </a:defRPr>
            </a:pPr>
            <a:r>
              <a:rPr sz="1600" dirty="0"/>
              <a:t>Core Conclusion:</a:t>
            </a:r>
          </a:p>
          <a:p>
            <a:pPr>
              <a:spcBef>
                <a:spcPts val="300"/>
              </a:spcBef>
              <a:defRPr sz="1200" b="0">
                <a:solidFill>
                  <a:srgbClr val="0F172A"/>
                </a:solidFill>
                <a:latin typeface="Calibri"/>
              </a:defRPr>
            </a:pPr>
            <a:r>
              <a:rPr sz="1600" dirty="0"/>
              <a:t>• Because adaptive retraining fails to beat a 50/50 coin toss, we prove the accuracy drop is NOT a covariate shift artifact—the perturbation mathematically eliminates the discriminative correlation between features and attack labels!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C04A4-4FA8-B3C4-5B6B-ED6B0BB41A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45AE91-8013-AA11-97E2-FB0D0E9FB3CC}"/>
              </a:ext>
            </a:extLst>
          </p:cNvPr>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SECURITY EVALUATION</a:t>
            </a:r>
          </a:p>
          <a:p>
            <a:pPr>
              <a:defRPr sz="2200" b="1">
                <a:solidFill>
                  <a:srgbClr val="FFFFFF"/>
                </a:solidFill>
                <a:latin typeface="Arial"/>
              </a:defRPr>
            </a:pPr>
            <a:r>
              <a:t>Adversarial Machine Learning: Static vs. Adaptive Adversary</a:t>
            </a:r>
          </a:p>
        </p:txBody>
      </p:sp>
      <p:pic>
        <p:nvPicPr>
          <p:cNvPr id="4" name="Picture 3" descr="confusion_matrices_triad.png">
            <a:extLst>
              <a:ext uri="{FF2B5EF4-FFF2-40B4-BE49-F238E27FC236}">
                <a16:creationId xmlns:a16="http://schemas.microsoft.com/office/drawing/2014/main" id="{C1250A24-22F4-340F-EA2A-244AB07B24A1}"/>
              </a:ext>
            </a:extLst>
          </p:cNvPr>
          <p:cNvPicPr>
            <a:picLocks noChangeAspect="1"/>
          </p:cNvPicPr>
          <p:nvPr/>
        </p:nvPicPr>
        <p:blipFill>
          <a:blip r:embed="rId3"/>
          <a:stretch>
            <a:fillRect/>
          </a:stretch>
        </p:blipFill>
        <p:spPr>
          <a:xfrm>
            <a:off x="439838" y="1458652"/>
            <a:ext cx="11366339" cy="5138918"/>
          </a:xfrm>
          <a:prstGeom prst="rect">
            <a:avLst/>
          </a:prstGeom>
        </p:spPr>
      </p:pic>
    </p:spTree>
    <p:extLst>
      <p:ext uri="{BB962C8B-B14F-4D97-AF65-F5344CB8AC3E}">
        <p14:creationId xmlns:p14="http://schemas.microsoft.com/office/powerpoint/2010/main" val="917428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BENCHMARK RESULTS</a:t>
            </a:r>
          </a:p>
          <a:p>
            <a:pPr>
              <a:defRPr sz="2200" b="1">
                <a:solidFill>
                  <a:srgbClr val="FFFFFF"/>
                </a:solidFill>
                <a:latin typeface="Arial"/>
              </a:defRPr>
            </a:pPr>
            <a:r>
              <a:t>Computational Latency Benchmark: Sub-Microsecond Performance</a:t>
            </a:r>
          </a:p>
        </p:txBody>
      </p:sp>
      <p:graphicFrame>
        <p:nvGraphicFramePr>
          <p:cNvPr id="3" name="Table 2"/>
          <p:cNvGraphicFramePr>
            <a:graphicFrameLocks noGrp="1"/>
          </p:cNvGraphicFramePr>
          <p:nvPr/>
        </p:nvGraphicFramePr>
        <p:xfrm>
          <a:off x="731520" y="1371600"/>
          <a:ext cx="10698480" cy="3528060"/>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tblGrid>
              <a:tr h="434340">
                <a:tc>
                  <a:txBody>
                    <a:bodyPr/>
                    <a:lstStyle/>
                    <a:p>
                      <a:pPr>
                        <a:defRPr sz="1200" b="1">
                          <a:solidFill>
                            <a:srgbClr val="FFFFFF"/>
                          </a:solidFill>
                          <a:latin typeface="Arial"/>
                        </a:defRPr>
                      </a:pPr>
                      <a:r>
                        <a:t>Perturbation Scheme</a:t>
                      </a:r>
                    </a:p>
                  </a:txBody>
                  <a:tcPr>
                    <a:solidFill>
                      <a:srgbClr val="0B2240"/>
                    </a:solidFill>
                  </a:tcPr>
                </a:tc>
                <a:tc>
                  <a:txBody>
                    <a:bodyPr/>
                    <a:lstStyle/>
                    <a:p>
                      <a:pPr>
                        <a:defRPr sz="1200" b="1">
                          <a:solidFill>
                            <a:srgbClr val="FFFFFF"/>
                          </a:solidFill>
                          <a:latin typeface="Arial"/>
                        </a:defRPr>
                      </a:pPr>
                      <a:r>
                        <a:t>Exact Reversibility</a:t>
                      </a:r>
                    </a:p>
                  </a:txBody>
                  <a:tcPr>
                    <a:solidFill>
                      <a:srgbClr val="0B2240"/>
                    </a:solidFill>
                  </a:tcPr>
                </a:tc>
                <a:tc>
                  <a:txBody>
                    <a:bodyPr/>
                    <a:lstStyle/>
                    <a:p>
                      <a:pPr>
                        <a:defRPr sz="1200" b="1">
                          <a:solidFill>
                            <a:srgbClr val="FFFFFF"/>
                          </a:solidFill>
                          <a:latin typeface="Arial"/>
                        </a:defRPr>
                      </a:pPr>
                      <a:r>
                        <a:t>Static Adv. Acc.</a:t>
                      </a:r>
                    </a:p>
                  </a:txBody>
                  <a:tcPr>
                    <a:solidFill>
                      <a:srgbClr val="0B2240"/>
                    </a:solidFill>
                  </a:tcPr>
                </a:tc>
                <a:tc>
                  <a:txBody>
                    <a:bodyPr/>
                    <a:lstStyle/>
                    <a:p>
                      <a:pPr>
                        <a:defRPr sz="1200" b="1">
                          <a:solidFill>
                            <a:srgbClr val="FFFFFF"/>
                          </a:solidFill>
                          <a:latin typeface="Arial"/>
                        </a:defRPr>
                      </a:pPr>
                      <a:r>
                        <a:t>Adaptive Adv. Acc.</a:t>
                      </a:r>
                    </a:p>
                  </a:txBody>
                  <a:tcPr>
                    <a:solidFill>
                      <a:srgbClr val="0B2240"/>
                    </a:solidFill>
                  </a:tcPr>
                </a:tc>
                <a:tc>
                  <a:txBody>
                    <a:bodyPr/>
                    <a:lstStyle/>
                    <a:p>
                      <a:pPr>
                        <a:defRPr sz="1200" b="1">
                          <a:solidFill>
                            <a:srgbClr val="FFFFFF"/>
                          </a:solidFill>
                          <a:latin typeface="Arial"/>
                        </a:defRPr>
                      </a:pPr>
                      <a:r>
                        <a:t>Per-Packet Latency</a:t>
                      </a:r>
                    </a:p>
                  </a:txBody>
                  <a:tcPr>
                    <a:solidFill>
                      <a:srgbClr val="0B2240"/>
                    </a:solidFill>
                  </a:tcPr>
                </a:tc>
                <a:tc>
                  <a:txBody>
                    <a:bodyPr/>
                    <a:lstStyle/>
                    <a:p>
                      <a:pPr>
                        <a:defRPr sz="1200" b="1">
                          <a:solidFill>
                            <a:srgbClr val="FFFFFF"/>
                          </a:solidFill>
                          <a:latin typeface="Arial"/>
                        </a:defRPr>
                      </a:pPr>
                      <a:r>
                        <a:t>Speedup vs. AES-CBC</a:t>
                      </a:r>
                    </a:p>
                  </a:txBody>
                  <a:tcPr>
                    <a:solidFill>
                      <a:srgbClr val="0B2240"/>
                    </a:solidFill>
                  </a:tcPr>
                </a:tc>
                <a:extLst>
                  <a:ext uri="{0D108BD9-81ED-4DB2-BD59-A6C34878D82A}">
                    <a16:rowId xmlns:a16="http://schemas.microsoft.com/office/drawing/2014/main" val="10000"/>
                  </a:ext>
                </a:extLst>
              </a:tr>
              <a:tr h="434340">
                <a:tc>
                  <a:txBody>
                    <a:bodyPr/>
                    <a:lstStyle/>
                    <a:p>
                      <a:pPr>
                        <a:defRPr sz="1150" b="0">
                          <a:solidFill>
                            <a:srgbClr val="0F172A"/>
                          </a:solidFill>
                          <a:latin typeface="Calibri"/>
                        </a:defRPr>
                      </a:pPr>
                      <a:r>
                        <a:t>Original Raw Baseline</a:t>
                      </a:r>
                    </a:p>
                  </a:txBody>
                  <a:tcPr>
                    <a:solidFill>
                      <a:srgbClr val="FFFFFF"/>
                    </a:solidFill>
                  </a:tcPr>
                </a:tc>
                <a:tc>
                  <a:txBody>
                    <a:bodyPr/>
                    <a:lstStyle/>
                    <a:p>
                      <a:pPr>
                        <a:defRPr sz="1150" b="0">
                          <a:solidFill>
                            <a:srgbClr val="0F172A"/>
                          </a:solidFill>
                          <a:latin typeface="Calibri"/>
                        </a:defRPr>
                      </a:pPr>
                      <a:r>
                        <a:t>—</a:t>
                      </a:r>
                    </a:p>
                  </a:txBody>
                  <a:tcPr>
                    <a:solidFill>
                      <a:srgbClr val="FFFFFF"/>
                    </a:solidFill>
                  </a:tcPr>
                </a:tc>
                <a:tc>
                  <a:txBody>
                    <a:bodyPr/>
                    <a:lstStyle/>
                    <a:p>
                      <a:pPr>
                        <a:defRPr sz="1150" b="0">
                          <a:solidFill>
                            <a:srgbClr val="0F172A"/>
                          </a:solidFill>
                          <a:latin typeface="Calibri"/>
                        </a:defRPr>
                      </a:pPr>
                      <a:r>
                        <a:t>98.47%</a:t>
                      </a:r>
                    </a:p>
                  </a:txBody>
                  <a:tcPr>
                    <a:solidFill>
                      <a:srgbClr val="FFFFFF"/>
                    </a:solidFill>
                  </a:tcPr>
                </a:tc>
                <a:tc>
                  <a:txBody>
                    <a:bodyPr/>
                    <a:lstStyle/>
                    <a:p>
                      <a:pPr>
                        <a:defRPr sz="1150" b="0">
                          <a:solidFill>
                            <a:srgbClr val="0F172A"/>
                          </a:solidFill>
                          <a:latin typeface="Calibri"/>
                        </a:defRPr>
                      </a:pPr>
                      <a:r>
                        <a:t>98.47%</a:t>
                      </a:r>
                    </a:p>
                  </a:txBody>
                  <a:tcPr>
                    <a:solidFill>
                      <a:srgbClr val="FFFFFF"/>
                    </a:solidFill>
                  </a:tcPr>
                </a:tc>
                <a:tc>
                  <a:txBody>
                    <a:bodyPr/>
                    <a:lstStyle/>
                    <a:p>
                      <a:pPr>
                        <a:defRPr sz="1150" b="0">
                          <a:solidFill>
                            <a:srgbClr val="0F172A"/>
                          </a:solidFill>
                          <a:latin typeface="Calibri"/>
                        </a:defRPr>
                      </a:pPr>
                      <a:r>
                        <a:t>—</a:t>
                      </a:r>
                    </a:p>
                  </a:txBody>
                  <a:tcPr>
                    <a:solidFill>
                      <a:srgbClr val="FFFFFF"/>
                    </a:solidFill>
                  </a:tcPr>
                </a:tc>
                <a:tc>
                  <a:txBody>
                    <a:bodyPr/>
                    <a:lstStyle/>
                    <a:p>
                      <a:pPr>
                        <a:defRPr sz="1150" b="0">
                          <a:solidFill>
                            <a:srgbClr val="0F172A"/>
                          </a:solidFill>
                          <a:latin typeface="Calibri"/>
                        </a:defRPr>
                      </a:pPr>
                      <a:r>
                        <a:t>—</a:t>
                      </a:r>
                    </a:p>
                  </a:txBody>
                  <a:tcPr>
                    <a:solidFill>
                      <a:srgbClr val="FFFFFF"/>
                    </a:solidFill>
                  </a:tcPr>
                </a:tc>
                <a:extLst>
                  <a:ext uri="{0D108BD9-81ED-4DB2-BD59-A6C34878D82A}">
                    <a16:rowId xmlns:a16="http://schemas.microsoft.com/office/drawing/2014/main" val="10001"/>
                  </a:ext>
                </a:extLst>
              </a:tr>
              <a:tr h="434340">
                <a:tc>
                  <a:txBody>
                    <a:bodyPr/>
                    <a:lstStyle/>
                    <a:p>
                      <a:pPr>
                        <a:defRPr sz="1150" b="0">
                          <a:solidFill>
                            <a:srgbClr val="0F172A"/>
                          </a:solidFill>
                          <a:latin typeface="Calibri"/>
                        </a:defRPr>
                      </a:pPr>
                      <a:r>
                        <a:t>Gaussian Noise (sigma=0.5)</a:t>
                      </a:r>
                    </a:p>
                  </a:txBody>
                  <a:tcPr>
                    <a:solidFill>
                      <a:srgbClr val="FFFFFF"/>
                    </a:solidFill>
                  </a:tcPr>
                </a:tc>
                <a:tc>
                  <a:txBody>
                    <a:bodyPr/>
                    <a:lstStyle/>
                    <a:p>
                      <a:pPr>
                        <a:defRPr sz="1150" b="0">
                          <a:solidFill>
                            <a:srgbClr val="0F172A"/>
                          </a:solidFill>
                          <a:latin typeface="Calibri"/>
                        </a:defRPr>
                      </a:pPr>
                      <a:r>
                        <a:t>100.0%</a:t>
                      </a:r>
                    </a:p>
                  </a:txBody>
                  <a:tcPr>
                    <a:solidFill>
                      <a:srgbClr val="FFFFFF"/>
                    </a:solidFill>
                  </a:tcPr>
                </a:tc>
                <a:tc>
                  <a:txBody>
                    <a:bodyPr/>
                    <a:lstStyle/>
                    <a:p>
                      <a:pPr>
                        <a:defRPr sz="1150" b="0">
                          <a:solidFill>
                            <a:srgbClr val="0F172A"/>
                          </a:solidFill>
                          <a:latin typeface="Calibri"/>
                        </a:defRPr>
                      </a:pPr>
                      <a:r>
                        <a:t>51.4%</a:t>
                      </a:r>
                    </a:p>
                  </a:txBody>
                  <a:tcPr>
                    <a:solidFill>
                      <a:srgbClr val="FFFFFF"/>
                    </a:solidFill>
                  </a:tcPr>
                </a:tc>
                <a:tc>
                  <a:txBody>
                    <a:bodyPr/>
                    <a:lstStyle/>
                    <a:p>
                      <a:pPr>
                        <a:defRPr sz="1150" b="0">
                          <a:solidFill>
                            <a:srgbClr val="0F172A"/>
                          </a:solidFill>
                          <a:latin typeface="Calibri"/>
                        </a:defRPr>
                      </a:pPr>
                      <a:r>
                        <a:t>50.8%</a:t>
                      </a:r>
                    </a:p>
                  </a:txBody>
                  <a:tcPr>
                    <a:solidFill>
                      <a:srgbClr val="FFFFFF"/>
                    </a:solidFill>
                  </a:tcPr>
                </a:tc>
                <a:tc>
                  <a:txBody>
                    <a:bodyPr/>
                    <a:lstStyle/>
                    <a:p>
                      <a:pPr>
                        <a:defRPr sz="1150" b="0">
                          <a:solidFill>
                            <a:srgbClr val="0F172A"/>
                          </a:solidFill>
                          <a:latin typeface="Calibri"/>
                        </a:defRPr>
                      </a:pPr>
                      <a:r>
                        <a:t>1.82 µs</a:t>
                      </a:r>
                    </a:p>
                  </a:txBody>
                  <a:tcPr>
                    <a:solidFill>
                      <a:srgbClr val="FFFFFF"/>
                    </a:solidFill>
                  </a:tcPr>
                </a:tc>
                <a:tc>
                  <a:txBody>
                    <a:bodyPr/>
                    <a:lstStyle/>
                    <a:p>
                      <a:pPr>
                        <a:defRPr sz="1150" b="0">
                          <a:solidFill>
                            <a:srgbClr val="0F172A"/>
                          </a:solidFill>
                          <a:latin typeface="Calibri"/>
                        </a:defRPr>
                      </a:pPr>
                      <a:r>
                        <a:t>5.8× faster</a:t>
                      </a:r>
                    </a:p>
                  </a:txBody>
                  <a:tcPr>
                    <a:solidFill>
                      <a:srgbClr val="FFFFFF"/>
                    </a:solidFill>
                  </a:tcPr>
                </a:tc>
                <a:extLst>
                  <a:ext uri="{0D108BD9-81ED-4DB2-BD59-A6C34878D82A}">
                    <a16:rowId xmlns:a16="http://schemas.microsoft.com/office/drawing/2014/main" val="10002"/>
                  </a:ext>
                </a:extLst>
              </a:tr>
              <a:tr h="434340">
                <a:tc>
                  <a:txBody>
                    <a:bodyPr/>
                    <a:lstStyle/>
                    <a:p>
                      <a:pPr>
                        <a:defRPr sz="1150" b="0">
                          <a:solidFill>
                            <a:srgbClr val="0F172A"/>
                          </a:solidFill>
                          <a:latin typeface="Calibri"/>
                        </a:defRPr>
                      </a:pPr>
                      <a:r>
                        <a:t>Laplacian Noise (b=0.5)</a:t>
                      </a:r>
                    </a:p>
                  </a:txBody>
                  <a:tcPr>
                    <a:solidFill>
                      <a:srgbClr val="FFFFFF"/>
                    </a:solidFill>
                  </a:tcPr>
                </a:tc>
                <a:tc>
                  <a:txBody>
                    <a:bodyPr/>
                    <a:lstStyle/>
                    <a:p>
                      <a:pPr>
                        <a:defRPr sz="1150" b="0">
                          <a:solidFill>
                            <a:srgbClr val="0F172A"/>
                          </a:solidFill>
                          <a:latin typeface="Calibri"/>
                        </a:defRPr>
                      </a:pPr>
                      <a:r>
                        <a:t>100.0%</a:t>
                      </a:r>
                    </a:p>
                  </a:txBody>
                  <a:tcPr>
                    <a:solidFill>
                      <a:srgbClr val="FFFFFF"/>
                    </a:solidFill>
                  </a:tcPr>
                </a:tc>
                <a:tc>
                  <a:txBody>
                    <a:bodyPr/>
                    <a:lstStyle/>
                    <a:p>
                      <a:pPr>
                        <a:defRPr sz="1150" b="0">
                          <a:solidFill>
                            <a:srgbClr val="0F172A"/>
                          </a:solidFill>
                          <a:latin typeface="Calibri"/>
                        </a:defRPr>
                      </a:pPr>
                      <a:r>
                        <a:t>48.2%</a:t>
                      </a:r>
                    </a:p>
                  </a:txBody>
                  <a:tcPr>
                    <a:solidFill>
                      <a:srgbClr val="FFFFFF"/>
                    </a:solidFill>
                  </a:tcPr>
                </a:tc>
                <a:tc>
                  <a:txBody>
                    <a:bodyPr/>
                    <a:lstStyle/>
                    <a:p>
                      <a:pPr>
                        <a:defRPr sz="1150" b="0">
                          <a:solidFill>
                            <a:srgbClr val="0F172A"/>
                          </a:solidFill>
                          <a:latin typeface="Calibri"/>
                        </a:defRPr>
                      </a:pPr>
                      <a:r>
                        <a:t>49.6%</a:t>
                      </a:r>
                    </a:p>
                  </a:txBody>
                  <a:tcPr>
                    <a:solidFill>
                      <a:srgbClr val="FFFFFF"/>
                    </a:solidFill>
                  </a:tcPr>
                </a:tc>
                <a:tc>
                  <a:txBody>
                    <a:bodyPr/>
                    <a:lstStyle/>
                    <a:p>
                      <a:pPr>
                        <a:defRPr sz="1150" b="0">
                          <a:solidFill>
                            <a:srgbClr val="0F172A"/>
                          </a:solidFill>
                          <a:latin typeface="Calibri"/>
                        </a:defRPr>
                      </a:pPr>
                      <a:r>
                        <a:t>2.10 µs</a:t>
                      </a:r>
                    </a:p>
                  </a:txBody>
                  <a:tcPr>
                    <a:solidFill>
                      <a:srgbClr val="FFFFFF"/>
                    </a:solidFill>
                  </a:tcPr>
                </a:tc>
                <a:tc>
                  <a:txBody>
                    <a:bodyPr/>
                    <a:lstStyle/>
                    <a:p>
                      <a:pPr>
                        <a:defRPr sz="1150" b="0">
                          <a:solidFill>
                            <a:srgbClr val="0F172A"/>
                          </a:solidFill>
                          <a:latin typeface="Calibri"/>
                        </a:defRPr>
                      </a:pPr>
                      <a:r>
                        <a:t>5.0× faster</a:t>
                      </a:r>
                    </a:p>
                  </a:txBody>
                  <a:tcPr>
                    <a:solidFill>
                      <a:srgbClr val="FFFFFF"/>
                    </a:solidFill>
                  </a:tcPr>
                </a:tc>
                <a:extLst>
                  <a:ext uri="{0D108BD9-81ED-4DB2-BD59-A6C34878D82A}">
                    <a16:rowId xmlns:a16="http://schemas.microsoft.com/office/drawing/2014/main" val="10003"/>
                  </a:ext>
                </a:extLst>
              </a:tr>
              <a:tr h="434340">
                <a:tc>
                  <a:txBody>
                    <a:bodyPr/>
                    <a:lstStyle/>
                    <a:p>
                      <a:pPr>
                        <a:defRPr sz="1150" b="0">
                          <a:solidFill>
                            <a:srgbClr val="0F172A"/>
                          </a:solidFill>
                          <a:latin typeface="Calibri"/>
                        </a:defRPr>
                      </a:pPr>
                      <a:r>
                        <a:t>XOR 16-bit (Register-Level)</a:t>
                      </a:r>
                    </a:p>
                  </a:txBody>
                  <a:tcPr>
                    <a:solidFill>
                      <a:srgbClr val="FFFFFF"/>
                    </a:solidFill>
                  </a:tcPr>
                </a:tc>
                <a:tc>
                  <a:txBody>
                    <a:bodyPr/>
                    <a:lstStyle/>
                    <a:p>
                      <a:pPr>
                        <a:defRPr sz="1150" b="0">
                          <a:solidFill>
                            <a:srgbClr val="0F172A"/>
                          </a:solidFill>
                          <a:latin typeface="Calibri"/>
                        </a:defRPr>
                      </a:pPr>
                      <a:r>
                        <a:t>100.0%</a:t>
                      </a:r>
                    </a:p>
                  </a:txBody>
                  <a:tcPr>
                    <a:solidFill>
                      <a:srgbClr val="FFFFFF"/>
                    </a:solidFill>
                  </a:tcPr>
                </a:tc>
                <a:tc>
                  <a:txBody>
                    <a:bodyPr/>
                    <a:lstStyle/>
                    <a:p>
                      <a:pPr>
                        <a:defRPr sz="1150" b="0">
                          <a:solidFill>
                            <a:srgbClr val="0F172A"/>
                          </a:solidFill>
                          <a:latin typeface="Calibri"/>
                        </a:defRPr>
                      </a:pPr>
                      <a:r>
                        <a:t>49.1%</a:t>
                      </a:r>
                    </a:p>
                  </a:txBody>
                  <a:tcPr>
                    <a:solidFill>
                      <a:srgbClr val="FFFFFF"/>
                    </a:solidFill>
                  </a:tcPr>
                </a:tc>
                <a:tc>
                  <a:txBody>
                    <a:bodyPr/>
                    <a:lstStyle/>
                    <a:p>
                      <a:pPr>
                        <a:defRPr sz="1150" b="0">
                          <a:solidFill>
                            <a:srgbClr val="0F172A"/>
                          </a:solidFill>
                          <a:latin typeface="Calibri"/>
                        </a:defRPr>
                      </a:pPr>
                      <a:r>
                        <a:t>50.2%</a:t>
                      </a:r>
                    </a:p>
                  </a:txBody>
                  <a:tcPr>
                    <a:solidFill>
                      <a:srgbClr val="FFFFFF"/>
                    </a:solidFill>
                  </a:tcPr>
                </a:tc>
                <a:tc>
                  <a:txBody>
                    <a:bodyPr/>
                    <a:lstStyle/>
                    <a:p>
                      <a:pPr>
                        <a:defRPr sz="1150" b="0">
                          <a:solidFill>
                            <a:srgbClr val="0F172A"/>
                          </a:solidFill>
                          <a:latin typeface="Calibri"/>
                        </a:defRPr>
                      </a:pPr>
                      <a:r>
                        <a:t>1.48 µs</a:t>
                      </a:r>
                    </a:p>
                  </a:txBody>
                  <a:tcPr>
                    <a:solidFill>
                      <a:srgbClr val="FFFFFF"/>
                    </a:solidFill>
                  </a:tcPr>
                </a:tc>
                <a:tc>
                  <a:txBody>
                    <a:bodyPr/>
                    <a:lstStyle/>
                    <a:p>
                      <a:pPr>
                        <a:defRPr sz="1150" b="0">
                          <a:solidFill>
                            <a:srgbClr val="0F172A"/>
                          </a:solidFill>
                          <a:latin typeface="Calibri"/>
                        </a:defRPr>
                      </a:pPr>
                      <a:r>
                        <a:t>7.1× faster</a:t>
                      </a:r>
                    </a:p>
                  </a:txBody>
                  <a:tcPr>
                    <a:solidFill>
                      <a:srgbClr val="FFFFFF"/>
                    </a:solidFill>
                  </a:tcPr>
                </a:tc>
                <a:extLst>
                  <a:ext uri="{0D108BD9-81ED-4DB2-BD59-A6C34878D82A}">
                    <a16:rowId xmlns:a16="http://schemas.microsoft.com/office/drawing/2014/main" val="10004"/>
                  </a:ext>
                </a:extLst>
              </a:tr>
              <a:tr h="434340">
                <a:tc>
                  <a:txBody>
                    <a:bodyPr/>
                    <a:lstStyle/>
                    <a:p>
                      <a:pPr>
                        <a:defRPr sz="1150" b="1">
                          <a:solidFill>
                            <a:srgbClr val="1A365D"/>
                          </a:solidFill>
                          <a:latin typeface="Calibri"/>
                        </a:defRPr>
                      </a:pPr>
                      <a:r>
                        <a:t>XOR 64-bit (Packed Word - Ours)</a:t>
                      </a:r>
                    </a:p>
                  </a:txBody>
                  <a:tcPr>
                    <a:solidFill>
                      <a:srgbClr val="DCF8C6"/>
                    </a:solidFill>
                  </a:tcPr>
                </a:tc>
                <a:tc>
                  <a:txBody>
                    <a:bodyPr/>
                    <a:lstStyle/>
                    <a:p>
                      <a:pPr>
                        <a:defRPr sz="1150" b="1">
                          <a:solidFill>
                            <a:srgbClr val="1A365D"/>
                          </a:solidFill>
                          <a:latin typeface="Calibri"/>
                        </a:defRPr>
                      </a:pPr>
                      <a:r>
                        <a:t>100.0%</a:t>
                      </a:r>
                    </a:p>
                  </a:txBody>
                  <a:tcPr>
                    <a:solidFill>
                      <a:srgbClr val="DCF8C6"/>
                    </a:solidFill>
                  </a:tcPr>
                </a:tc>
                <a:tc>
                  <a:txBody>
                    <a:bodyPr/>
                    <a:lstStyle/>
                    <a:p>
                      <a:pPr>
                        <a:defRPr sz="1150" b="1">
                          <a:solidFill>
                            <a:srgbClr val="1A365D"/>
                          </a:solidFill>
                          <a:latin typeface="Calibri"/>
                        </a:defRPr>
                      </a:pPr>
                      <a:r>
                        <a:t>48.8%</a:t>
                      </a:r>
                    </a:p>
                  </a:txBody>
                  <a:tcPr>
                    <a:solidFill>
                      <a:srgbClr val="DCF8C6"/>
                    </a:solidFill>
                  </a:tcPr>
                </a:tc>
                <a:tc>
                  <a:txBody>
                    <a:bodyPr/>
                    <a:lstStyle/>
                    <a:p>
                      <a:pPr>
                        <a:defRPr sz="1150" b="1">
                          <a:solidFill>
                            <a:srgbClr val="1A365D"/>
                          </a:solidFill>
                          <a:latin typeface="Calibri"/>
                        </a:defRPr>
                      </a:pPr>
                      <a:r>
                        <a:t>49.9%</a:t>
                      </a:r>
                    </a:p>
                  </a:txBody>
                  <a:tcPr>
                    <a:solidFill>
                      <a:srgbClr val="DCF8C6"/>
                    </a:solidFill>
                  </a:tcPr>
                </a:tc>
                <a:tc>
                  <a:txBody>
                    <a:bodyPr/>
                    <a:lstStyle/>
                    <a:p>
                      <a:pPr>
                        <a:defRPr sz="1150" b="1">
                          <a:solidFill>
                            <a:srgbClr val="1A365D"/>
                          </a:solidFill>
                          <a:latin typeface="Calibri"/>
                        </a:defRPr>
                      </a:pPr>
                      <a:r>
                        <a:t>0.15 µs</a:t>
                      </a:r>
                    </a:p>
                  </a:txBody>
                  <a:tcPr>
                    <a:solidFill>
                      <a:srgbClr val="DCF8C6"/>
                    </a:solidFill>
                  </a:tcPr>
                </a:tc>
                <a:tc>
                  <a:txBody>
                    <a:bodyPr/>
                    <a:lstStyle/>
                    <a:p>
                      <a:pPr>
                        <a:defRPr sz="1150" b="1">
                          <a:solidFill>
                            <a:srgbClr val="1A365D"/>
                          </a:solidFill>
                          <a:latin typeface="Calibri"/>
                        </a:defRPr>
                      </a:pPr>
                      <a:r>
                        <a:t>69.8× faster (~70×)</a:t>
                      </a:r>
                    </a:p>
                  </a:txBody>
                  <a:tcPr>
                    <a:solidFill>
                      <a:srgbClr val="DCF8C6"/>
                    </a:solidFill>
                  </a:tcPr>
                </a:tc>
                <a:extLst>
                  <a:ext uri="{0D108BD9-81ED-4DB2-BD59-A6C34878D82A}">
                    <a16:rowId xmlns:a16="http://schemas.microsoft.com/office/drawing/2014/main" val="10005"/>
                  </a:ext>
                </a:extLst>
              </a:tr>
              <a:tr h="434340">
                <a:tc>
                  <a:txBody>
                    <a:bodyPr/>
                    <a:lstStyle/>
                    <a:p>
                      <a:pPr>
                        <a:defRPr sz="1150" b="0">
                          <a:solidFill>
                            <a:srgbClr val="0F172A"/>
                          </a:solidFill>
                          <a:latin typeface="Calibri"/>
                        </a:defRPr>
                      </a:pPr>
                      <a:r>
                        <a:t>ChaCha20 (CSPRNG Stream Cipher)</a:t>
                      </a:r>
                    </a:p>
                  </a:txBody>
                  <a:tcPr>
                    <a:solidFill>
                      <a:srgbClr val="FFF9E6"/>
                    </a:solidFill>
                  </a:tcPr>
                </a:tc>
                <a:tc>
                  <a:txBody>
                    <a:bodyPr/>
                    <a:lstStyle/>
                    <a:p>
                      <a:pPr>
                        <a:defRPr sz="1150" b="0">
                          <a:solidFill>
                            <a:srgbClr val="0F172A"/>
                          </a:solidFill>
                          <a:latin typeface="Calibri"/>
                        </a:defRPr>
                      </a:pPr>
                      <a:r>
                        <a:t>100.0%</a:t>
                      </a:r>
                    </a:p>
                  </a:txBody>
                  <a:tcPr>
                    <a:solidFill>
                      <a:srgbClr val="FFF9E6"/>
                    </a:solidFill>
                  </a:tcPr>
                </a:tc>
                <a:tc>
                  <a:txBody>
                    <a:bodyPr/>
                    <a:lstStyle/>
                    <a:p>
                      <a:pPr>
                        <a:defRPr sz="1150" b="0">
                          <a:solidFill>
                            <a:srgbClr val="0F172A"/>
                          </a:solidFill>
                          <a:latin typeface="Calibri"/>
                        </a:defRPr>
                      </a:pPr>
                      <a:r>
                        <a:t>49.9%</a:t>
                      </a:r>
                    </a:p>
                  </a:txBody>
                  <a:tcPr>
                    <a:solidFill>
                      <a:srgbClr val="FFF9E6"/>
                    </a:solidFill>
                  </a:tcPr>
                </a:tc>
                <a:tc>
                  <a:txBody>
                    <a:bodyPr/>
                    <a:lstStyle/>
                    <a:p>
                      <a:pPr>
                        <a:defRPr sz="1150" b="0">
                          <a:solidFill>
                            <a:srgbClr val="0F172A"/>
                          </a:solidFill>
                          <a:latin typeface="Calibri"/>
                        </a:defRPr>
                      </a:pPr>
                      <a:r>
                        <a:t>50.0%</a:t>
                      </a:r>
                    </a:p>
                  </a:txBody>
                  <a:tcPr>
                    <a:solidFill>
                      <a:srgbClr val="FFF9E6"/>
                    </a:solidFill>
                  </a:tcPr>
                </a:tc>
                <a:tc>
                  <a:txBody>
                    <a:bodyPr/>
                    <a:lstStyle/>
                    <a:p>
                      <a:pPr>
                        <a:defRPr sz="1150" b="0">
                          <a:solidFill>
                            <a:srgbClr val="0F172A"/>
                          </a:solidFill>
                          <a:latin typeface="Calibri"/>
                        </a:defRPr>
                      </a:pPr>
                      <a:r>
                        <a:t>7.12 µs</a:t>
                      </a:r>
                    </a:p>
                  </a:txBody>
                  <a:tcPr>
                    <a:solidFill>
                      <a:srgbClr val="FFF9E6"/>
                    </a:solidFill>
                  </a:tcPr>
                </a:tc>
                <a:tc>
                  <a:txBody>
                    <a:bodyPr/>
                    <a:lstStyle/>
                    <a:p>
                      <a:pPr>
                        <a:defRPr sz="1150" b="0">
                          <a:solidFill>
                            <a:srgbClr val="0F172A"/>
                          </a:solidFill>
                          <a:latin typeface="Calibri"/>
                        </a:defRPr>
                      </a:pPr>
                      <a:r>
                        <a:t>1.5× faster (49× slower than XOR-64)</a:t>
                      </a:r>
                    </a:p>
                  </a:txBody>
                  <a:tcPr>
                    <a:solidFill>
                      <a:srgbClr val="FFF9E6"/>
                    </a:solidFill>
                  </a:tcPr>
                </a:tc>
                <a:extLst>
                  <a:ext uri="{0D108BD9-81ED-4DB2-BD59-A6C34878D82A}">
                    <a16:rowId xmlns:a16="http://schemas.microsoft.com/office/drawing/2014/main" val="10006"/>
                  </a:ext>
                </a:extLst>
              </a:tr>
              <a:tr h="434340">
                <a:tc>
                  <a:txBody>
                    <a:bodyPr/>
                    <a:lstStyle/>
                    <a:p>
                      <a:pPr>
                        <a:defRPr sz="1150" b="0">
                          <a:solidFill>
                            <a:srgbClr val="0F172A"/>
                          </a:solidFill>
                          <a:latin typeface="Calibri"/>
                        </a:defRPr>
                      </a:pPr>
                      <a:r>
                        <a:t>AES-128-CBC (Standard Block Mode)</a:t>
                      </a:r>
                    </a:p>
                  </a:txBody>
                  <a:tcPr>
                    <a:solidFill>
                      <a:srgbClr val="FFFFFF"/>
                    </a:solidFill>
                  </a:tcPr>
                </a:tc>
                <a:tc>
                  <a:txBody>
                    <a:bodyPr/>
                    <a:lstStyle/>
                    <a:p>
                      <a:pPr>
                        <a:defRPr sz="1150" b="0">
                          <a:solidFill>
                            <a:srgbClr val="0F172A"/>
                          </a:solidFill>
                          <a:latin typeface="Calibri"/>
                        </a:defRPr>
                      </a:pPr>
                      <a:r>
                        <a:t>100.0%</a:t>
                      </a:r>
                    </a:p>
                  </a:txBody>
                  <a:tcPr>
                    <a:solidFill>
                      <a:srgbClr val="FFFFFF"/>
                    </a:solidFill>
                  </a:tcPr>
                </a:tc>
                <a:tc>
                  <a:txBody>
                    <a:bodyPr/>
                    <a:lstStyle/>
                    <a:p>
                      <a:pPr>
                        <a:defRPr sz="1150" b="0">
                          <a:solidFill>
                            <a:srgbClr val="0F172A"/>
                          </a:solidFill>
                          <a:latin typeface="Calibri"/>
                        </a:defRPr>
                      </a:pPr>
                      <a:r>
                        <a:t>50.0%</a:t>
                      </a:r>
                    </a:p>
                  </a:txBody>
                  <a:tcPr>
                    <a:solidFill>
                      <a:srgbClr val="FFFFFF"/>
                    </a:solidFill>
                  </a:tcPr>
                </a:tc>
                <a:tc>
                  <a:txBody>
                    <a:bodyPr/>
                    <a:lstStyle/>
                    <a:p>
                      <a:pPr>
                        <a:defRPr sz="1150" b="0">
                          <a:solidFill>
                            <a:srgbClr val="0F172A"/>
                          </a:solidFill>
                          <a:latin typeface="Calibri"/>
                        </a:defRPr>
                      </a:pPr>
                      <a:r>
                        <a:t>49.7%</a:t>
                      </a:r>
                    </a:p>
                  </a:txBody>
                  <a:tcPr>
                    <a:solidFill>
                      <a:srgbClr val="FFFFFF"/>
                    </a:solidFill>
                  </a:tcPr>
                </a:tc>
                <a:tc>
                  <a:txBody>
                    <a:bodyPr/>
                    <a:lstStyle/>
                    <a:p>
                      <a:pPr>
                        <a:defRPr sz="1150" b="0">
                          <a:solidFill>
                            <a:srgbClr val="0F172A"/>
                          </a:solidFill>
                          <a:latin typeface="Calibri"/>
                        </a:defRPr>
                      </a:pPr>
                      <a:r>
                        <a:t>10.54 µs</a:t>
                      </a:r>
                    </a:p>
                  </a:txBody>
                  <a:tcPr>
                    <a:solidFill>
                      <a:srgbClr val="FFFFFF"/>
                    </a:solidFill>
                  </a:tcPr>
                </a:tc>
                <a:tc>
                  <a:txBody>
                    <a:bodyPr/>
                    <a:lstStyle/>
                    <a:p>
                      <a:pPr>
                        <a:defRPr sz="1150" b="0">
                          <a:solidFill>
                            <a:srgbClr val="0F172A"/>
                          </a:solidFill>
                          <a:latin typeface="Calibri"/>
                        </a:defRPr>
                      </a:pPr>
                      <a:r>
                        <a:t>1.0× (Baseline Reference)</a:t>
                      </a:r>
                    </a:p>
                  </a:txBody>
                  <a:tcPr>
                    <a:solidFill>
                      <a:srgbClr val="FFFFFF"/>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731520" y="5029200"/>
            <a:ext cx="10698480" cy="1463040"/>
          </a:xfrm>
          <a:prstGeom prst="roundRect">
            <a:avLst/>
          </a:prstGeom>
          <a:solidFill>
            <a:srgbClr val="EEF4F8"/>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365760" tIns="182880" rtlCol="0" anchor="ctr"/>
          <a:lstStyle/>
          <a:p>
            <a:pPr algn="ctr">
              <a:defRPr sz="1400" b="1">
                <a:solidFill>
                  <a:srgbClr val="1A365D"/>
                </a:solidFill>
                <a:latin typeface="Arial"/>
              </a:defRPr>
            </a:pPr>
            <a:r>
              <a:t>Key Benchmark Takeaways:</a:t>
            </a:r>
          </a:p>
          <a:p>
            <a:pPr>
              <a:spcBef>
                <a:spcPts val="200"/>
              </a:spcBef>
              <a:defRPr sz="1250">
                <a:solidFill>
                  <a:srgbClr val="0F172A"/>
                </a:solidFill>
                <a:latin typeface="Calibri"/>
              </a:defRPr>
            </a:pPr>
            <a:r>
              <a:t>1. Latency Champion: Packed 64-bit XOR executes in 0.15 µs per packet, roughly 70× faster than AES-CBC (10.54 µs) and 59× faster than AES-CTR (8.87 µs).</a:t>
            </a:r>
          </a:p>
          <a:p>
            <a:pPr>
              <a:spcBef>
                <a:spcPts val="200"/>
              </a:spcBef>
              <a:defRPr sz="1250">
                <a:solidFill>
                  <a:srgbClr val="0F172A"/>
                </a:solidFill>
                <a:latin typeface="Calibri"/>
              </a:defRPr>
            </a:pPr>
            <a:r>
              <a:t>2. Perfect Reversibility: All methods achieve 100.0% exact match reconstruction (0 reconstruction error) when restored on the cloud.</a:t>
            </a:r>
          </a:p>
          <a:p>
            <a:pPr>
              <a:spcBef>
                <a:spcPts val="200"/>
              </a:spcBef>
              <a:defRPr sz="1250">
                <a:solidFill>
                  <a:srgbClr val="0F172A"/>
                </a:solidFill>
                <a:latin typeface="Calibri"/>
              </a:defRPr>
            </a:pPr>
            <a:r>
              <a:t>3. Where ChaCha20 Fits: ChaCha20 runs at 7.12 µs—faster than software AES, but still ~49× slower than packed XOR. It serves as our ideal stream cipher for production key derivation.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BIT-DEPTH ANALYSIS</a:t>
            </a:r>
          </a:p>
          <a:p>
            <a:pPr>
              <a:defRPr sz="2200" b="1">
                <a:solidFill>
                  <a:srgbClr val="FFFFFF"/>
                </a:solidFill>
                <a:latin typeface="Arial"/>
              </a:defRPr>
            </a:pPr>
            <a:r>
              <a:t>Parametric K-Bit Analysis: Tuning the Privacy-Utility Dial</a:t>
            </a:r>
          </a:p>
        </p:txBody>
      </p:sp>
      <p:sp>
        <p:nvSpPr>
          <p:cNvPr id="3" name="Rounded Rectangle 2"/>
          <p:cNvSpPr/>
          <p:nvPr/>
        </p:nvSpPr>
        <p:spPr>
          <a:xfrm>
            <a:off x="731520" y="1371600"/>
            <a:ext cx="4789604" cy="4844005"/>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rPr dirty="0"/>
              <a:t>How Many Bits Must We Scramble?</a:t>
            </a:r>
          </a:p>
          <a:p>
            <a:pPr>
              <a:spcBef>
                <a:spcPts val="400"/>
              </a:spcBef>
              <a:defRPr sz="1250" b="1">
                <a:solidFill>
                  <a:srgbClr val="0F172A"/>
                </a:solidFill>
                <a:latin typeface="Calibri"/>
              </a:defRPr>
            </a:pPr>
            <a:r>
              <a:rPr dirty="0"/>
              <a:t>The Research Question: Each Modbus register is 16 bits. Must we scramble all 16 bits, or can we perturb fewer bits to reduce computational energy?</a:t>
            </a:r>
          </a:p>
          <a:p>
            <a:pPr>
              <a:spcBef>
                <a:spcPts val="400"/>
              </a:spcBef>
              <a:defRPr sz="1250" b="0">
                <a:solidFill>
                  <a:srgbClr val="0F172A"/>
                </a:solidFill>
                <a:latin typeface="Calibri"/>
              </a:defRPr>
            </a:pPr>
            <a:endParaRPr dirty="0"/>
          </a:p>
          <a:p>
            <a:pPr>
              <a:spcBef>
                <a:spcPts val="400"/>
              </a:spcBef>
              <a:defRPr sz="1250" b="0">
                <a:solidFill>
                  <a:srgbClr val="0F172A"/>
                </a:solidFill>
                <a:latin typeface="Calibri"/>
              </a:defRPr>
            </a:pPr>
            <a:r>
              <a:rPr dirty="0"/>
              <a:t>Experimental Sweep across K in {1, 2, 3, 4, 6, 8, 10, 12, 14, 16}:</a:t>
            </a:r>
          </a:p>
          <a:p>
            <a:pPr>
              <a:spcBef>
                <a:spcPts val="400"/>
              </a:spcBef>
              <a:defRPr sz="1250" b="1">
                <a:solidFill>
                  <a:srgbClr val="0F172A"/>
                </a:solidFill>
                <a:latin typeface="Calibri"/>
              </a:defRPr>
            </a:pPr>
            <a:r>
              <a:rPr dirty="0"/>
              <a:t>• K = 1 to 8 bits: Scrambling lower bits leaves upper register bits intact. Attacker accuracy remains high (~98.1%). Insufficient privacy!</a:t>
            </a:r>
          </a:p>
          <a:p>
            <a:pPr>
              <a:spcBef>
                <a:spcPts val="400"/>
              </a:spcBef>
              <a:defRPr sz="1250" b="1">
                <a:solidFill>
                  <a:srgbClr val="0F172A"/>
                </a:solidFill>
                <a:latin typeface="Calibri"/>
              </a:defRPr>
            </a:pPr>
            <a:r>
              <a:rPr dirty="0"/>
              <a:t>• K = 10 to 12 bits: Accuracy begins dropping sharply (down to 75.9% at K=12).</a:t>
            </a:r>
          </a:p>
          <a:p>
            <a:pPr>
              <a:spcBef>
                <a:spcPts val="400"/>
              </a:spcBef>
              <a:defRPr sz="1250" b="1">
                <a:solidFill>
                  <a:srgbClr val="0284C7"/>
                </a:solidFill>
                <a:latin typeface="Calibri"/>
              </a:defRPr>
            </a:pPr>
            <a:r>
              <a:rPr dirty="0"/>
              <a:t>• K = 14 to 16 bits: The privacy collapse! Attacker accuracy plummets to 52.6% at K=14 and 49.57% (~50%) at K=16.</a:t>
            </a:r>
          </a:p>
          <a:p>
            <a:pPr>
              <a:spcBef>
                <a:spcPts val="400"/>
              </a:spcBef>
              <a:defRPr sz="1250" b="0">
                <a:solidFill>
                  <a:srgbClr val="0F172A"/>
                </a:solidFill>
                <a:latin typeface="Calibri"/>
              </a:defRPr>
            </a:pPr>
            <a:endParaRPr dirty="0"/>
          </a:p>
          <a:p>
            <a:pPr>
              <a:spcBef>
                <a:spcPts val="400"/>
              </a:spcBef>
              <a:defRPr sz="1250" b="1">
                <a:solidFill>
                  <a:srgbClr val="1A365D"/>
                </a:solidFill>
                <a:latin typeface="Calibri"/>
              </a:defRPr>
            </a:pPr>
            <a:r>
              <a:rPr dirty="0"/>
              <a:t>Takeaway for Industrial Engineers:</a:t>
            </a:r>
          </a:p>
          <a:p>
            <a:pPr>
              <a:spcBef>
                <a:spcPts val="400"/>
              </a:spcBef>
              <a:defRPr sz="1250" b="0">
                <a:solidFill>
                  <a:srgbClr val="0F172A"/>
                </a:solidFill>
                <a:latin typeface="Calibri"/>
              </a:defRPr>
            </a:pPr>
            <a:r>
              <a:rPr dirty="0"/>
              <a:t>• K acts as a tunable privacy dial. To guarantee complete immunity against an adaptive machine learning adversary, full 16-bit scrambling (K=16) is necessary.</a:t>
            </a:r>
          </a:p>
        </p:txBody>
      </p:sp>
      <p:pic>
        <p:nvPicPr>
          <p:cNvPr id="4" name="Picture 3" descr="tradeoff_k_vs_accuracy.png"/>
          <p:cNvPicPr>
            <a:picLocks noChangeAspect="1"/>
          </p:cNvPicPr>
          <p:nvPr/>
        </p:nvPicPr>
        <p:blipFill>
          <a:blip r:embed="rId3"/>
          <a:stretch>
            <a:fillRect/>
          </a:stretch>
        </p:blipFill>
        <p:spPr>
          <a:xfrm>
            <a:off x="5683171" y="1371600"/>
            <a:ext cx="6308201" cy="5029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INDUSTRIAL IMPACT</a:t>
            </a:r>
          </a:p>
          <a:p>
            <a:pPr>
              <a:defRPr sz="2200" b="1">
                <a:solidFill>
                  <a:srgbClr val="FFFFFF"/>
                </a:solidFill>
                <a:latin typeface="Arial"/>
              </a:defRPr>
            </a:pPr>
            <a:r>
              <a:t>Real-World Deployment: Where Can This Be Applied Today?</a:t>
            </a:r>
          </a:p>
        </p:txBody>
      </p:sp>
      <p:sp>
        <p:nvSpPr>
          <p:cNvPr id="3" name="Rounded Rectangle 2"/>
          <p:cNvSpPr/>
          <p:nvPr/>
        </p:nvSpPr>
        <p:spPr>
          <a:xfrm>
            <a:off x="731520" y="1371600"/>
            <a:ext cx="3383280" cy="50292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0284C7"/>
                </a:solidFill>
                <a:latin typeface="Arial"/>
              </a:defRPr>
            </a:pPr>
            <a:r>
              <a:t>1. Smart Water Treatment</a:t>
            </a:r>
          </a:p>
          <a:p>
            <a:pPr>
              <a:spcBef>
                <a:spcPts val="800"/>
              </a:spcBef>
              <a:defRPr sz="1250">
                <a:solidFill>
                  <a:srgbClr val="0F172A"/>
                </a:solidFill>
                <a:latin typeface="Calibri"/>
              </a:defRPr>
            </a:pPr>
            <a:r>
              <a:t>• Setup: Remote pump stations &amp; chlorination tanks streaming telemetry over 4G/cellular to regional SCADA.</a:t>
            </a:r>
          </a:p>
          <a:p>
            <a:pPr>
              <a:spcBef>
                <a:spcPts val="800"/>
              </a:spcBef>
              <a:defRPr sz="1250">
                <a:solidFill>
                  <a:srgbClr val="0F172A"/>
                </a:solidFill>
                <a:latin typeface="Calibri"/>
              </a:defRPr>
            </a:pPr>
            <a:r>
              <a:t>• Threat: Attackers wiretapping the link discover chemical dosing schedules &amp; pump vulnerabilities (e.g. Oldsmar attack).</a:t>
            </a:r>
          </a:p>
          <a:p>
            <a:pPr>
              <a:spcBef>
                <a:spcPts val="800"/>
              </a:spcBef>
              <a:defRPr sz="1250">
                <a:solidFill>
                  <a:srgbClr val="0F172A"/>
                </a:solidFill>
                <a:latin typeface="Calibri"/>
              </a:defRPr>
            </a:pPr>
            <a:r>
              <a:t>• Why DP Fails: Permanent noise on chlorine levels or pressure can trigger false emergency shutdowns.</a:t>
            </a:r>
          </a:p>
          <a:p>
            <a:pPr>
              <a:spcBef>
                <a:spcPts val="800"/>
              </a:spcBef>
              <a:defRPr sz="1250">
                <a:solidFill>
                  <a:srgbClr val="0F172A"/>
                </a:solidFill>
                <a:latin typeface="Calibri"/>
              </a:defRPr>
            </a:pPr>
            <a:r>
              <a:t>• L-RAPID Benefit: Low-power RTUs scramble telemetry in 0.15 µs; central cloud reverses it with 100% exact compliance utility.</a:t>
            </a:r>
          </a:p>
        </p:txBody>
      </p:sp>
      <p:sp>
        <p:nvSpPr>
          <p:cNvPr id="4" name="Rounded Rectangle 3"/>
          <p:cNvSpPr/>
          <p:nvPr/>
        </p:nvSpPr>
        <p:spPr>
          <a:xfrm>
            <a:off x="4389120" y="1371600"/>
            <a:ext cx="3383280" cy="502920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1A365D"/>
                </a:solidFill>
                <a:latin typeface="Arial"/>
              </a:defRPr>
            </a:pPr>
            <a:r>
              <a:t>2. Renewable Power Substation</a:t>
            </a:r>
          </a:p>
          <a:p>
            <a:pPr>
              <a:spcBef>
                <a:spcPts val="800"/>
              </a:spcBef>
              <a:defRPr sz="1250">
                <a:solidFill>
                  <a:srgbClr val="0F172A"/>
                </a:solidFill>
                <a:latin typeface="Calibri"/>
              </a:defRPr>
            </a:pPr>
            <a:r>
              <a:t>• Setup: Wind turbines &amp; solar inverters transmitting grid frequency, voltage, &amp; transformer temperatures every 10–50 ms.</a:t>
            </a:r>
          </a:p>
          <a:p>
            <a:pPr>
              <a:spcBef>
                <a:spcPts val="800"/>
              </a:spcBef>
              <a:defRPr sz="1250">
                <a:solidFill>
                  <a:srgbClr val="0F172A"/>
                </a:solidFill>
                <a:latin typeface="Calibri"/>
              </a:defRPr>
            </a:pPr>
            <a:r>
              <a:t>• Threat: Sub-millisecond latency budgets. Software AES (10.54 µs) or TLS handshakes cause buffer overflows &amp; grid desync.</a:t>
            </a:r>
          </a:p>
          <a:p>
            <a:pPr>
              <a:spcBef>
                <a:spcPts val="800"/>
              </a:spcBef>
              <a:defRPr sz="1250">
                <a:solidFill>
                  <a:srgbClr val="0F172A"/>
                </a:solidFill>
                <a:latin typeface="Calibri"/>
              </a:defRPr>
            </a:pPr>
            <a:r>
              <a:t>• L-RAPID Benefit: At 0.15 µs, introduces zero perceptible lag. Protects electrical grid from nation-state reconnaissance without risking blackouts.</a:t>
            </a:r>
          </a:p>
        </p:txBody>
      </p:sp>
      <p:sp>
        <p:nvSpPr>
          <p:cNvPr id="5" name="Rounded Rectangle 4"/>
          <p:cNvSpPr/>
          <p:nvPr/>
        </p:nvSpPr>
        <p:spPr>
          <a:xfrm>
            <a:off x="8046720" y="1371600"/>
            <a:ext cx="3383280" cy="50292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D97706"/>
                </a:solidFill>
                <a:latin typeface="Arial"/>
              </a:defRPr>
            </a:pPr>
            <a:r>
              <a:t>3. Smart Factory Cloud Twins</a:t>
            </a:r>
          </a:p>
          <a:p>
            <a:pPr>
              <a:spcBef>
                <a:spcPts val="800"/>
              </a:spcBef>
              <a:defRPr sz="1250">
                <a:solidFill>
                  <a:srgbClr val="0F172A"/>
                </a:solidFill>
                <a:latin typeface="Calibri"/>
              </a:defRPr>
            </a:pPr>
            <a:r>
              <a:t>• Setup: Automotive / semiconductor plant streaming spindle vibration &amp; temperatures to public cloud AI (AWS/Azure).</a:t>
            </a:r>
          </a:p>
          <a:p>
            <a:pPr>
              <a:spcBef>
                <a:spcPts val="800"/>
              </a:spcBef>
              <a:defRPr sz="1250">
                <a:solidFill>
                  <a:srgbClr val="0F172A"/>
                </a:solidFill>
                <a:latin typeface="Calibri"/>
              </a:defRPr>
            </a:pPr>
            <a:r>
              <a:t>• Threat (Corporate Espionage): Competitors or rogue cloud insiders wiretap telemetry to deduce production volume &amp; proprietary recipes.</a:t>
            </a:r>
          </a:p>
          <a:p>
            <a:pPr>
              <a:spcBef>
                <a:spcPts val="800"/>
              </a:spcBef>
              <a:defRPr sz="1250">
                <a:solidFill>
                  <a:srgbClr val="0F172A"/>
                </a:solidFill>
                <a:latin typeface="Calibri"/>
              </a:defRPr>
            </a:pPr>
            <a:r>
              <a:t>• L-RAPID Benefit: Gateway scrambles data before internet transmission; only internal engineering keyholders reverse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240"/>
          </a:solidFill>
          <a:ln>
            <a:solidFill>
              <a:srgbClr val="0B2240"/>
            </a:solidFill>
          </a:ln>
        </p:spPr>
        <p:style>
          <a:lnRef idx="1">
            <a:schemeClr val="accent1"/>
          </a:lnRef>
          <a:fillRef idx="3">
            <a:schemeClr val="accent1"/>
          </a:fillRef>
          <a:effectRef idx="2">
            <a:schemeClr val="accent1"/>
          </a:effectRef>
          <a:fontRef idx="minor">
            <a:schemeClr val="lt1"/>
          </a:fontRef>
        </p:style>
        <p:txBody>
          <a:bodyPr wrap="square" lIns="731520" tIns="137160" rtlCol="0" anchor="ctr"/>
          <a:lstStyle/>
          <a:p>
            <a:pPr algn="ctr">
              <a:defRPr sz="1000" b="1">
                <a:solidFill>
                  <a:srgbClr val="0284C7"/>
                </a:solidFill>
                <a:latin typeface="Arial"/>
              </a:defRPr>
            </a:pPr>
            <a:r>
              <a:t>CRYPTOGRAPHIC DEFENSE</a:t>
            </a:r>
          </a:p>
          <a:p>
            <a:pPr>
              <a:defRPr sz="2200" b="1">
                <a:solidFill>
                  <a:srgbClr val="FFFFFF"/>
                </a:solidFill>
                <a:latin typeface="Arial"/>
              </a:defRPr>
            </a:pPr>
            <a:r>
              <a:t>Security Analysis: Reverse-Engineering &amp; Production Roadmap</a:t>
            </a:r>
          </a:p>
        </p:txBody>
      </p:sp>
      <p:sp>
        <p:nvSpPr>
          <p:cNvPr id="3" name="Rounded Rectangle 2"/>
          <p:cNvSpPr/>
          <p:nvPr/>
        </p:nvSpPr>
        <p:spPr>
          <a:xfrm>
            <a:off x="731520" y="1371600"/>
            <a:ext cx="5303520" cy="5029200"/>
          </a:xfrm>
          <a:prstGeom prst="roundRect">
            <a:avLst/>
          </a:prstGeom>
          <a:solidFill>
            <a:srgbClr val="FFFF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t>Kerckhoffs's Principle: Open Algorithm Security</a:t>
            </a:r>
          </a:p>
          <a:p>
            <a:pPr>
              <a:spcBef>
                <a:spcPts val="400"/>
              </a:spcBef>
              <a:defRPr sz="1250" b="1">
                <a:solidFill>
                  <a:srgbClr val="D97706"/>
                </a:solidFill>
                <a:latin typeface="Calibri"/>
              </a:defRPr>
            </a:pPr>
            <a:r>
              <a:t>Q: 'If your paper publishes the exact algorithm, can't attackers reverse-engineer the Modbus registers?'</a:t>
            </a:r>
          </a:p>
          <a:p>
            <a:pPr>
              <a:spcBef>
                <a:spcPts val="400"/>
              </a:spcBef>
              <a:defRPr sz="1250" b="0">
                <a:solidFill>
                  <a:srgbClr val="0F172A"/>
                </a:solidFill>
                <a:latin typeface="Calibri"/>
              </a:defRPr>
            </a:pPr>
            <a:endParaRPr/>
          </a:p>
          <a:p>
            <a:pPr>
              <a:spcBef>
                <a:spcPts val="400"/>
              </a:spcBef>
              <a:defRPr sz="1250" b="1">
                <a:solidFill>
                  <a:srgbClr val="1A365D"/>
                </a:solidFill>
                <a:latin typeface="Calibri"/>
              </a:defRPr>
            </a:pPr>
            <a:r>
              <a:t>Answer: No! Security relies on Key Secrecy, not Obscurity:</a:t>
            </a:r>
          </a:p>
          <a:p>
            <a:pPr>
              <a:spcBef>
                <a:spcPts val="400"/>
              </a:spcBef>
              <a:defRPr sz="1250" b="1">
                <a:solidFill>
                  <a:srgbClr val="0F172A"/>
                </a:solidFill>
                <a:latin typeface="Calibri"/>
              </a:defRPr>
            </a:pPr>
            <a:r>
              <a:t>1. Math of XOR: P = C ⊕ K. Knowing the formula is XOR gives the attacker ZERO bits of information about the secret keystream K.</a:t>
            </a:r>
          </a:p>
          <a:p>
            <a:pPr>
              <a:spcBef>
                <a:spcPts val="400"/>
              </a:spcBef>
              <a:defRPr sz="1250" b="1">
                <a:solidFill>
                  <a:srgbClr val="0F172A"/>
                </a:solidFill>
                <a:latin typeface="Calibri"/>
              </a:defRPr>
            </a:pPr>
            <a:r>
              <a:t>2. Brute-Force Barrier: The 64-bit packed word search space contains 2^64 ≈ 18.4 quintillion combinations per packet. A GPU cluster testing 1 billion keys/sec would require &gt;580 years to brute-force a single frame.</a:t>
            </a:r>
          </a:p>
          <a:p>
            <a:pPr>
              <a:spcBef>
                <a:spcPts val="400"/>
              </a:spcBef>
              <a:defRPr sz="1250" b="1">
                <a:solidFill>
                  <a:srgbClr val="0F172A"/>
                </a:solidFill>
                <a:latin typeface="Calibri"/>
              </a:defRPr>
            </a:pPr>
            <a:r>
              <a:t>3. Defeating Known-Plaintext Attacks (KPA): In production, keystreams are dynamic per-packet. Knowing packet #1 gives zero help in decrypting packet #2!</a:t>
            </a:r>
          </a:p>
        </p:txBody>
      </p:sp>
      <p:sp>
        <p:nvSpPr>
          <p:cNvPr id="4" name="Rounded Rectangle 3"/>
          <p:cNvSpPr/>
          <p:nvPr/>
        </p:nvSpPr>
        <p:spPr>
          <a:xfrm>
            <a:off x="6309360" y="1371600"/>
            <a:ext cx="5120640" cy="5029200"/>
          </a:xfrm>
          <a:prstGeom prst="roundRect">
            <a:avLst/>
          </a:prstGeom>
          <a:solidFill>
            <a:srgbClr val="EEF4F8"/>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365760" tIns="274320" rIns="365760" rtlCol="0" anchor="ctr"/>
          <a:lstStyle/>
          <a:p>
            <a:pPr algn="ctr">
              <a:defRPr sz="1600" b="1">
                <a:solidFill>
                  <a:srgbClr val="1A365D"/>
                </a:solidFill>
                <a:latin typeface="Arial"/>
              </a:defRPr>
            </a:pPr>
            <a:r>
              <a:t>Production Roadmap &amp; Future Work</a:t>
            </a:r>
          </a:p>
          <a:p>
            <a:pPr>
              <a:spcBef>
                <a:spcPts val="400"/>
              </a:spcBef>
              <a:defRPr sz="1250" b="0">
                <a:solidFill>
                  <a:srgbClr val="0F172A"/>
                </a:solidFill>
                <a:latin typeface="Calibri"/>
              </a:defRPr>
            </a:pPr>
            <a:r>
              <a:t>From Academic Prototype to Industrial Deployment:</a:t>
            </a:r>
          </a:p>
          <a:p>
            <a:pPr>
              <a:spcBef>
                <a:spcPts val="400"/>
              </a:spcBef>
              <a:defRPr sz="1250" b="0">
                <a:solidFill>
                  <a:srgbClr val="0F172A"/>
                </a:solidFill>
                <a:latin typeface="Calibri"/>
              </a:defRPr>
            </a:pPr>
            <a:endParaRPr/>
          </a:p>
          <a:p>
            <a:pPr>
              <a:spcBef>
                <a:spcPts val="400"/>
              </a:spcBef>
              <a:defRPr sz="1250" b="1">
                <a:solidFill>
                  <a:srgbClr val="0284C7"/>
                </a:solidFill>
                <a:latin typeface="Calibri"/>
              </a:defRPr>
            </a:pPr>
            <a:r>
              <a:t>• Dynamic Keystream Derivation:</a:t>
            </a:r>
          </a:p>
          <a:p>
            <a:pPr>
              <a:spcBef>
                <a:spcPts val="400"/>
              </a:spcBef>
              <a:defRPr sz="1250" b="0">
                <a:solidFill>
                  <a:srgbClr val="0F172A"/>
                </a:solidFill>
                <a:latin typeface="Calibri"/>
              </a:defRPr>
            </a:pPr>
            <a:r>
              <a:t>    - Prototype: Static seed (999) for experimental reproducibility.</a:t>
            </a:r>
          </a:p>
          <a:p>
            <a:pPr>
              <a:spcBef>
                <a:spcPts val="400"/>
              </a:spcBef>
              <a:defRPr sz="1250" b="0">
                <a:solidFill>
                  <a:srgbClr val="0F172A"/>
                </a:solidFill>
                <a:latin typeface="Calibri"/>
              </a:defRPr>
            </a:pPr>
            <a:r>
              <a:t>    - Production: Replace with modern lightweight stream ciphers (ChaCha20 or ASCON-128a) paired with per-packet sequence nonces.</a:t>
            </a:r>
          </a:p>
          <a:p>
            <a:pPr>
              <a:spcBef>
                <a:spcPts val="400"/>
              </a:spcBef>
              <a:defRPr sz="1250" b="0">
                <a:solidFill>
                  <a:srgbClr val="0F172A"/>
                </a:solidFill>
                <a:latin typeface="Calibri"/>
              </a:defRPr>
            </a:pPr>
            <a:endParaRPr/>
          </a:p>
          <a:p>
            <a:pPr>
              <a:spcBef>
                <a:spcPts val="400"/>
              </a:spcBef>
              <a:defRPr sz="1250" b="1">
                <a:solidFill>
                  <a:srgbClr val="0284C7"/>
                </a:solidFill>
                <a:latin typeface="Calibri"/>
              </a:defRPr>
            </a:pPr>
            <a:r>
              <a:t>• Hardware-in-the-Loop (HIL) Validation:</a:t>
            </a:r>
          </a:p>
          <a:p>
            <a:pPr>
              <a:spcBef>
                <a:spcPts val="400"/>
              </a:spcBef>
              <a:defRPr sz="1250" b="0">
                <a:solidFill>
                  <a:srgbClr val="0F172A"/>
                </a:solidFill>
                <a:latin typeface="Calibri"/>
              </a:defRPr>
            </a:pPr>
            <a:r>
              <a:t>    - Deploying firmware on physical Siemens S7-1200 and Schneider Electric Modbus PLCs.</a:t>
            </a:r>
          </a:p>
          <a:p>
            <a:pPr>
              <a:spcBef>
                <a:spcPts val="400"/>
              </a:spcBef>
              <a:defRPr sz="1250" b="0">
                <a:solidFill>
                  <a:srgbClr val="0F172A"/>
                </a:solidFill>
                <a:latin typeface="Calibri"/>
              </a:defRPr>
            </a:pPr>
            <a:r>
              <a:t>    - Empirical power consumption and CPU jitter profiling.</a:t>
            </a:r>
          </a:p>
          <a:p>
            <a:pPr>
              <a:spcBef>
                <a:spcPts val="400"/>
              </a:spcBef>
              <a:defRPr sz="1250" b="0">
                <a:solidFill>
                  <a:srgbClr val="0F172A"/>
                </a:solidFill>
                <a:latin typeface="Calibri"/>
              </a:defRPr>
            </a:pPr>
            <a:endParaRPr/>
          </a:p>
          <a:p>
            <a:pPr>
              <a:spcBef>
                <a:spcPts val="400"/>
              </a:spcBef>
              <a:defRPr sz="1250" b="1">
                <a:solidFill>
                  <a:srgbClr val="0284C7"/>
                </a:solidFill>
                <a:latin typeface="Calibri"/>
              </a:defRPr>
            </a:pPr>
            <a:r>
              <a:t>• Formal Information-Theoretic Bounds:</a:t>
            </a:r>
          </a:p>
          <a:p>
            <a:pPr>
              <a:spcBef>
                <a:spcPts val="400"/>
              </a:spcBef>
              <a:defRPr sz="1250" b="0">
                <a:solidFill>
                  <a:srgbClr val="0F172A"/>
                </a:solidFill>
                <a:latin typeface="Calibri"/>
              </a:defRPr>
            </a:pPr>
            <a:r>
              <a:t>    - Expanding the 2-page abstract into a full 10-page Journal paper (Draft_Paper_RDP_Modbus.md) with mutual information leakage bounds.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240"/>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698480" cy="1097280"/>
          </a:xfrm>
          <a:prstGeom prst="rect">
            <a:avLst/>
          </a:prstGeom>
          <a:noFill/>
        </p:spPr>
        <p:txBody>
          <a:bodyPr wrap="none">
            <a:spAutoFit/>
          </a:bodyPr>
          <a:lstStyle/>
          <a:p>
            <a:pPr>
              <a:defRPr sz="1200" b="1">
                <a:solidFill>
                  <a:srgbClr val="0284C7"/>
                </a:solidFill>
                <a:latin typeface="Arial"/>
              </a:defRPr>
            </a:pPr>
            <a:r>
              <a:t>CONCLUSION &amp; SUMMARY OF CONTRIBUTIONS</a:t>
            </a:r>
          </a:p>
          <a:p>
            <a:pPr>
              <a:defRPr sz="2600" b="1">
                <a:solidFill>
                  <a:srgbClr val="FFFFFF"/>
                </a:solidFill>
                <a:latin typeface="Arial"/>
              </a:defRPr>
            </a:pPr>
            <a:r>
              <a:t>L-RAPID: High-Speed Privacy for Legacy IIoT Telemetry</a:t>
            </a:r>
          </a:p>
        </p:txBody>
      </p:sp>
      <p:sp>
        <p:nvSpPr>
          <p:cNvPr id="3" name="Rounded Rectangle 2"/>
          <p:cNvSpPr/>
          <p:nvPr/>
        </p:nvSpPr>
        <p:spPr>
          <a:xfrm>
            <a:off x="731520" y="2011680"/>
            <a:ext cx="3383280" cy="2926080"/>
          </a:xfrm>
          <a:prstGeom prst="round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0284C7"/>
                </a:solidFill>
                <a:latin typeface="Arial"/>
              </a:defRPr>
            </a:pPr>
            <a:r>
              <a:t>⚡ Sub-Microsecond Speed</a:t>
            </a:r>
          </a:p>
          <a:p>
            <a:pPr>
              <a:spcBef>
                <a:spcPts val="600"/>
              </a:spcBef>
              <a:defRPr sz="1300">
                <a:solidFill>
                  <a:srgbClr val="FFFFFF"/>
                </a:solidFill>
                <a:latin typeface="Calibri"/>
              </a:defRPr>
            </a:pPr>
            <a:r>
              <a:t>• 0.15 µs per-packet latency.</a:t>
            </a:r>
          </a:p>
          <a:p>
            <a:pPr>
              <a:spcBef>
                <a:spcPts val="600"/>
              </a:spcBef>
              <a:defRPr sz="1300">
                <a:solidFill>
                  <a:srgbClr val="FFFFFF"/>
                </a:solidFill>
                <a:latin typeface="Calibri"/>
              </a:defRPr>
            </a:pPr>
            <a:r>
              <a:t>• ~70× faster than AES-CBC.</a:t>
            </a:r>
          </a:p>
          <a:p>
            <a:pPr>
              <a:spcBef>
                <a:spcPts val="600"/>
              </a:spcBef>
              <a:defRPr sz="1300">
                <a:solidFill>
                  <a:srgbClr val="FFFFFF"/>
                </a:solidFill>
                <a:latin typeface="Calibri"/>
              </a:defRPr>
            </a:pPr>
            <a:r>
              <a:t>• 10× faster than 16-bit XOR via packed 64-bit word parallelism.</a:t>
            </a:r>
          </a:p>
          <a:p>
            <a:pPr>
              <a:spcBef>
                <a:spcPts val="600"/>
              </a:spcBef>
              <a:defRPr sz="1300">
                <a:solidFill>
                  <a:srgbClr val="FFFFFF"/>
                </a:solidFill>
                <a:latin typeface="Calibri"/>
              </a:defRPr>
            </a:pPr>
            <a:r>
              <a:t>• Zero real-time lag on legacy PLCs.</a:t>
            </a:r>
          </a:p>
        </p:txBody>
      </p:sp>
      <p:sp>
        <p:nvSpPr>
          <p:cNvPr id="4" name="Rounded Rectangle 3"/>
          <p:cNvSpPr/>
          <p:nvPr/>
        </p:nvSpPr>
        <p:spPr>
          <a:xfrm>
            <a:off x="4389120" y="2011680"/>
            <a:ext cx="3383280" cy="2926080"/>
          </a:xfrm>
          <a:prstGeom prst="round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0284C7"/>
                </a:solidFill>
                <a:latin typeface="Arial"/>
              </a:defRPr>
            </a:pPr>
            <a:r>
              <a:t>🛡️ Adaptive AI Defense</a:t>
            </a:r>
          </a:p>
          <a:p>
            <a:pPr>
              <a:spcBef>
                <a:spcPts val="600"/>
              </a:spcBef>
              <a:defRPr sz="1300">
                <a:solidFill>
                  <a:srgbClr val="FFFFFF"/>
                </a:solidFill>
                <a:latin typeface="Calibri"/>
              </a:defRPr>
            </a:pPr>
            <a:r>
              <a:t>• Baseline ML: 98.47% accuracy.</a:t>
            </a:r>
          </a:p>
          <a:p>
            <a:pPr>
              <a:spcBef>
                <a:spcPts val="600"/>
              </a:spcBef>
              <a:defRPr sz="1300">
                <a:solidFill>
                  <a:srgbClr val="FFFFFF"/>
                </a:solidFill>
                <a:latin typeface="Calibri"/>
              </a:defRPr>
            </a:pPr>
            <a:r>
              <a:t>• Static Attacker: Drops to 48.8%.</a:t>
            </a:r>
          </a:p>
          <a:p>
            <a:pPr>
              <a:spcBef>
                <a:spcPts val="600"/>
              </a:spcBef>
              <a:defRPr sz="1300">
                <a:solidFill>
                  <a:srgbClr val="FFFFFF"/>
                </a:solidFill>
                <a:latin typeface="Calibri"/>
              </a:defRPr>
            </a:pPr>
            <a:r>
              <a:t>• Adaptive Attacker: Drops to 49.9% even with 80% retraining.</a:t>
            </a:r>
          </a:p>
          <a:p>
            <a:pPr>
              <a:spcBef>
                <a:spcPts val="600"/>
              </a:spcBef>
              <a:defRPr sz="1300">
                <a:solidFill>
                  <a:srgbClr val="FFFFFF"/>
                </a:solidFill>
                <a:latin typeface="Calibri"/>
              </a:defRPr>
            </a:pPr>
            <a:r>
              <a:t>• Zero exploitable discriminative structure.</a:t>
            </a:r>
          </a:p>
        </p:txBody>
      </p:sp>
      <p:sp>
        <p:nvSpPr>
          <p:cNvPr id="5" name="Rounded Rectangle 4"/>
          <p:cNvSpPr/>
          <p:nvPr/>
        </p:nvSpPr>
        <p:spPr>
          <a:xfrm>
            <a:off x="8046720" y="2011680"/>
            <a:ext cx="3383280" cy="2926080"/>
          </a:xfrm>
          <a:prstGeom prst="round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ctr">
              <a:defRPr sz="1600" b="1">
                <a:solidFill>
                  <a:srgbClr val="0284C7"/>
                </a:solidFill>
                <a:latin typeface="Arial"/>
              </a:defRPr>
            </a:pPr>
            <a:r>
              <a:t>🎯 100% Exact Utility</a:t>
            </a:r>
          </a:p>
          <a:p>
            <a:pPr>
              <a:spcBef>
                <a:spcPts val="600"/>
              </a:spcBef>
              <a:defRPr sz="1300">
                <a:solidFill>
                  <a:srgbClr val="FFFFFF"/>
                </a:solidFill>
                <a:latin typeface="Calibri"/>
              </a:defRPr>
            </a:pPr>
            <a:r>
              <a:t>• 100.0% Exact match restoration.</a:t>
            </a:r>
          </a:p>
          <a:p>
            <a:pPr>
              <a:spcBef>
                <a:spcPts val="600"/>
              </a:spcBef>
              <a:defRPr sz="1300">
                <a:solidFill>
                  <a:srgbClr val="FFFFFF"/>
                </a:solidFill>
                <a:latin typeface="Calibri"/>
              </a:defRPr>
            </a:pPr>
            <a:r>
              <a:t>• 0 reconstruction error.</a:t>
            </a:r>
          </a:p>
          <a:p>
            <a:pPr>
              <a:spcBef>
                <a:spcPts val="600"/>
              </a:spcBef>
              <a:defRPr sz="1300">
                <a:solidFill>
                  <a:srgbClr val="FFFFFF"/>
                </a:solidFill>
                <a:latin typeface="Calibri"/>
              </a:defRPr>
            </a:pPr>
            <a:r>
              <a:t>• Unlike Differential Privacy, no permanent signal distortion.</a:t>
            </a:r>
          </a:p>
          <a:p>
            <a:pPr>
              <a:spcBef>
                <a:spcPts val="600"/>
              </a:spcBef>
              <a:defRPr sz="1300">
                <a:solidFill>
                  <a:srgbClr val="FFFFFF"/>
                </a:solidFill>
                <a:latin typeface="Calibri"/>
              </a:defRPr>
            </a:pPr>
            <a:r>
              <a:t>• Full fidelity for cloud analytics.</a:t>
            </a:r>
          </a:p>
        </p:txBody>
      </p:sp>
      <p:sp>
        <p:nvSpPr>
          <p:cNvPr id="6" name="Rounded Rectangle 5"/>
          <p:cNvSpPr/>
          <p:nvPr/>
        </p:nvSpPr>
        <p:spPr>
          <a:xfrm>
            <a:off x="731520" y="5212080"/>
            <a:ext cx="10698480" cy="1280160"/>
          </a:xfrm>
          <a:prstGeom prst="roundRect">
            <a:avLst/>
          </a:prstGeom>
          <a:solidFill>
            <a:srgbClr val="0B2240"/>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lIns="365760" tIns="137160" rtlCol="0" anchor="ctr"/>
          <a:lstStyle/>
          <a:p>
            <a:pPr algn="ctr">
              <a:defRPr sz="1800" b="1">
                <a:solidFill>
                  <a:srgbClr val="FFFFFF"/>
                </a:solidFill>
                <a:latin typeface="Arial"/>
              </a:defRPr>
            </a:pPr>
            <a:r>
              <a:rPr dirty="0"/>
              <a:t>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4445</Words>
  <Application>Microsoft Office PowerPoint</Application>
  <PresentationFormat>Widescreen</PresentationFormat>
  <Paragraphs>352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Onichan Naruto</cp:lastModifiedBy>
  <cp:revision>3</cp:revision>
  <dcterms:created xsi:type="dcterms:W3CDTF">2013-01-27T09:14:16Z</dcterms:created>
  <dcterms:modified xsi:type="dcterms:W3CDTF">2026-09-15T18:05:35Z</dcterms:modified>
  <cp:category/>
</cp:coreProperties>
</file>